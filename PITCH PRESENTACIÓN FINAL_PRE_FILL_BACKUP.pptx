
<file path=[Content_Types].xml><?xml version="1.0" encoding="utf-8"?>
<Types xmlns="http://schemas.openxmlformats.org/package/2006/content-types">
  <Default Extension="fna&amp;_nc_gid=5fvWnVENmSdn6b8jZzT3Qg&amp;_nc_ss=7d2a8&amp;oh=00_AQPBb8VdcMThVQXcUI4zDrsYPFhVSe7lpWlUhFPRIKKd_A&amp;oe=6AE5118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54049-4B0C-4E25-A5CB-EB923E0DE5AF}" v="28" dt="2026-10-26T14:36:52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Tapia Salazar" userId="c3d00bcd4006f853" providerId="LiveId" clId="{2F6D9AE4-852D-4580-BFBD-4043B69AEE08}"/>
    <pc:docChg chg="custSel modSld">
      <pc:chgData name="Diego Tapia Salazar" userId="c3d00bcd4006f853" providerId="LiveId" clId="{2F6D9AE4-852D-4580-BFBD-4043B69AEE08}" dt="2026-10-26T14:37:30.721" v="222" actId="20577"/>
      <pc:docMkLst>
        <pc:docMk/>
      </pc:docMkLst>
      <pc:sldChg chg="addSp delSp modSp mod">
        <pc:chgData name="Diego Tapia Salazar" userId="c3d00bcd4006f853" providerId="LiveId" clId="{2F6D9AE4-852D-4580-BFBD-4043B69AEE08}" dt="2026-10-26T12:57:54.889" v="16" actId="1076"/>
        <pc:sldMkLst>
          <pc:docMk/>
          <pc:sldMk cId="761353708" sldId="257"/>
        </pc:sldMkLst>
        <pc:spChg chg="mod">
          <ac:chgData name="Diego Tapia Salazar" userId="c3d00bcd4006f853" providerId="LiveId" clId="{2F6D9AE4-852D-4580-BFBD-4043B69AEE08}" dt="2026-10-26T12:57:51.532" v="15" actId="113"/>
          <ac:spMkLst>
            <pc:docMk/>
            <pc:sldMk cId="761353708" sldId="257"/>
            <ac:spMk id="8" creationId="{228E093B-7D1A-CF30-2129-9B73858E5B70}"/>
          </ac:spMkLst>
        </pc:spChg>
        <pc:picChg chg="add mod">
          <ac:chgData name="Diego Tapia Salazar" userId="c3d00bcd4006f853" providerId="LiveId" clId="{2F6D9AE4-852D-4580-BFBD-4043B69AEE08}" dt="2026-10-26T12:57:54.889" v="16" actId="1076"/>
          <ac:picMkLst>
            <pc:docMk/>
            <pc:sldMk cId="761353708" sldId="257"/>
            <ac:picMk id="2" creationId="{1FEF09E1-F959-69E8-5FE3-A7FA46E0CBB0}"/>
          </ac:picMkLst>
        </pc:picChg>
        <pc:picChg chg="del">
          <ac:chgData name="Diego Tapia Salazar" userId="c3d00bcd4006f853" providerId="LiveId" clId="{2F6D9AE4-852D-4580-BFBD-4043B69AEE08}" dt="2026-10-26T12:56:33.806" v="0" actId="478"/>
          <ac:picMkLst>
            <pc:docMk/>
            <pc:sldMk cId="761353708" sldId="257"/>
            <ac:picMk id="7" creationId="{52B1F841-6C16-EEAE-014D-C52589575C4B}"/>
          </ac:picMkLst>
        </pc:picChg>
      </pc:sldChg>
      <pc:sldChg chg="modSp mod">
        <pc:chgData name="Diego Tapia Salazar" userId="c3d00bcd4006f853" providerId="LiveId" clId="{2F6D9AE4-852D-4580-BFBD-4043B69AEE08}" dt="2026-10-26T13:00:05.199" v="42" actId="20577"/>
        <pc:sldMkLst>
          <pc:docMk/>
          <pc:sldMk cId="1505387986" sldId="258"/>
        </pc:sldMkLst>
        <pc:spChg chg="mod">
          <ac:chgData name="Diego Tapia Salazar" userId="c3d00bcd4006f853" providerId="LiveId" clId="{2F6D9AE4-852D-4580-BFBD-4043B69AEE08}" dt="2026-10-26T13:00:05.199" v="42" actId="20577"/>
          <ac:spMkLst>
            <pc:docMk/>
            <pc:sldMk cId="1505387986" sldId="258"/>
            <ac:spMk id="8" creationId="{A1ADAF66-BBF4-2551-FEBA-8696230E3334}"/>
          </ac:spMkLst>
        </pc:spChg>
      </pc:sldChg>
      <pc:sldChg chg="modSp mod">
        <pc:chgData name="Diego Tapia Salazar" userId="c3d00bcd4006f853" providerId="LiveId" clId="{2F6D9AE4-852D-4580-BFBD-4043B69AEE08}" dt="2026-10-26T14:11:18.148" v="55" actId="1076"/>
        <pc:sldMkLst>
          <pc:docMk/>
          <pc:sldMk cId="3337777894" sldId="259"/>
        </pc:sldMkLst>
        <pc:spChg chg="mod">
          <ac:chgData name="Diego Tapia Salazar" userId="c3d00bcd4006f853" providerId="LiveId" clId="{2F6D9AE4-852D-4580-BFBD-4043B69AEE08}" dt="2026-10-26T14:11:14.791" v="54" actId="14100"/>
          <ac:spMkLst>
            <pc:docMk/>
            <pc:sldMk cId="3337777894" sldId="259"/>
            <ac:spMk id="5" creationId="{EE565427-C35C-C4BC-80D7-BDEEBD856B23}"/>
          </ac:spMkLst>
        </pc:spChg>
        <pc:picChg chg="mod">
          <ac:chgData name="Diego Tapia Salazar" userId="c3d00bcd4006f853" providerId="LiveId" clId="{2F6D9AE4-852D-4580-BFBD-4043B69AEE08}" dt="2026-10-26T14:11:18.148" v="55" actId="1076"/>
          <ac:picMkLst>
            <pc:docMk/>
            <pc:sldMk cId="3337777894" sldId="259"/>
            <ac:picMk id="6" creationId="{693E4186-FD37-0EC8-F85D-62F35F6B7FA1}"/>
          </ac:picMkLst>
        </pc:picChg>
      </pc:sldChg>
      <pc:sldChg chg="modSp mod">
        <pc:chgData name="Diego Tapia Salazar" userId="c3d00bcd4006f853" providerId="LiveId" clId="{2F6D9AE4-852D-4580-BFBD-4043B69AEE08}" dt="2026-10-26T14:15:14.274" v="78" actId="20577"/>
        <pc:sldMkLst>
          <pc:docMk/>
          <pc:sldMk cId="2182861095" sldId="260"/>
        </pc:sldMkLst>
        <pc:spChg chg="mod">
          <ac:chgData name="Diego Tapia Salazar" userId="c3d00bcd4006f853" providerId="LiveId" clId="{2F6D9AE4-852D-4580-BFBD-4043B69AEE08}" dt="2026-10-26T14:13:52.980" v="60" actId="1076"/>
          <ac:spMkLst>
            <pc:docMk/>
            <pc:sldMk cId="2182861095" sldId="260"/>
            <ac:spMk id="6" creationId="{01A26676-B25E-6AE6-4EFC-430FA882C922}"/>
          </ac:spMkLst>
        </pc:spChg>
        <pc:spChg chg="mod">
          <ac:chgData name="Diego Tapia Salazar" userId="c3d00bcd4006f853" providerId="LiveId" clId="{2F6D9AE4-852D-4580-BFBD-4043B69AEE08}" dt="2026-10-26T14:15:14.274" v="78" actId="20577"/>
          <ac:spMkLst>
            <pc:docMk/>
            <pc:sldMk cId="2182861095" sldId="260"/>
            <ac:spMk id="8" creationId="{B967FA2C-2F62-407B-5362-4D824CD617B9}"/>
          </ac:spMkLst>
        </pc:spChg>
      </pc:sldChg>
      <pc:sldChg chg="modSp mod">
        <pc:chgData name="Diego Tapia Salazar" userId="c3d00bcd4006f853" providerId="LiveId" clId="{2F6D9AE4-852D-4580-BFBD-4043B69AEE08}" dt="2026-10-26T14:16:35.107" v="82" actId="20577"/>
        <pc:sldMkLst>
          <pc:docMk/>
          <pc:sldMk cId="3538067603" sldId="261"/>
        </pc:sldMkLst>
        <pc:spChg chg="mod">
          <ac:chgData name="Diego Tapia Salazar" userId="c3d00bcd4006f853" providerId="LiveId" clId="{2F6D9AE4-852D-4580-BFBD-4043B69AEE08}" dt="2026-10-26T14:16:35.107" v="82" actId="20577"/>
          <ac:spMkLst>
            <pc:docMk/>
            <pc:sldMk cId="3538067603" sldId="261"/>
            <ac:spMk id="7" creationId="{719C1B9D-21A6-BF3B-9588-49A38869AA0F}"/>
          </ac:spMkLst>
        </pc:spChg>
      </pc:sldChg>
      <pc:sldChg chg="modSp mod">
        <pc:chgData name="Diego Tapia Salazar" userId="c3d00bcd4006f853" providerId="LiveId" clId="{2F6D9AE4-852D-4580-BFBD-4043B69AEE08}" dt="2026-10-26T14:20:10.102" v="108" actId="20577"/>
        <pc:sldMkLst>
          <pc:docMk/>
          <pc:sldMk cId="338082649" sldId="262"/>
        </pc:sldMkLst>
        <pc:spChg chg="mod">
          <ac:chgData name="Diego Tapia Salazar" userId="c3d00bcd4006f853" providerId="LiveId" clId="{2F6D9AE4-852D-4580-BFBD-4043B69AEE08}" dt="2026-10-26T14:20:10.102" v="108" actId="20577"/>
          <ac:spMkLst>
            <pc:docMk/>
            <pc:sldMk cId="338082649" sldId="262"/>
            <ac:spMk id="7" creationId="{10B15E8F-FB46-F612-14ED-26A4F6A040E2}"/>
          </ac:spMkLst>
        </pc:spChg>
      </pc:sldChg>
      <pc:sldChg chg="modSp mod">
        <pc:chgData name="Diego Tapia Salazar" userId="c3d00bcd4006f853" providerId="LiveId" clId="{2F6D9AE4-852D-4580-BFBD-4043B69AEE08}" dt="2026-10-26T14:30:09.662" v="160" actId="14100"/>
        <pc:sldMkLst>
          <pc:docMk/>
          <pc:sldMk cId="1007010683" sldId="263"/>
        </pc:sldMkLst>
        <pc:spChg chg="mod">
          <ac:chgData name="Diego Tapia Salazar" userId="c3d00bcd4006f853" providerId="LiveId" clId="{2F6D9AE4-852D-4580-BFBD-4043B69AEE08}" dt="2026-10-26T14:30:09.662" v="160" actId="14100"/>
          <ac:spMkLst>
            <pc:docMk/>
            <pc:sldMk cId="1007010683" sldId="263"/>
            <ac:spMk id="6" creationId="{16B957C2-EFB5-82CD-42E4-4FBA9128CAAF}"/>
          </ac:spMkLst>
        </pc:spChg>
      </pc:sldChg>
      <pc:sldChg chg="modSp mod">
        <pc:chgData name="Diego Tapia Salazar" userId="c3d00bcd4006f853" providerId="LiveId" clId="{2F6D9AE4-852D-4580-BFBD-4043B69AEE08}" dt="2026-10-26T14:32:26.594" v="189" actId="20577"/>
        <pc:sldMkLst>
          <pc:docMk/>
          <pc:sldMk cId="4062902961" sldId="264"/>
        </pc:sldMkLst>
        <pc:spChg chg="mod">
          <ac:chgData name="Diego Tapia Salazar" userId="c3d00bcd4006f853" providerId="LiveId" clId="{2F6D9AE4-852D-4580-BFBD-4043B69AEE08}" dt="2026-10-26T14:31:42.229" v="175" actId="1076"/>
          <ac:spMkLst>
            <pc:docMk/>
            <pc:sldMk cId="4062902961" sldId="264"/>
            <ac:spMk id="5" creationId="{4044E463-F927-1DBB-1BAE-349FDD127C56}"/>
          </ac:spMkLst>
        </pc:spChg>
        <pc:spChg chg="mod">
          <ac:chgData name="Diego Tapia Salazar" userId="c3d00bcd4006f853" providerId="LiveId" clId="{2F6D9AE4-852D-4580-BFBD-4043B69AEE08}" dt="2026-10-26T14:32:26.594" v="189" actId="20577"/>
          <ac:spMkLst>
            <pc:docMk/>
            <pc:sldMk cId="4062902961" sldId="264"/>
            <ac:spMk id="7" creationId="{026DFBB9-C332-5BE1-CB61-B5980EC414FB}"/>
          </ac:spMkLst>
        </pc:spChg>
      </pc:sldChg>
      <pc:sldChg chg="addSp delSp modSp mod">
        <pc:chgData name="Diego Tapia Salazar" userId="c3d00bcd4006f853" providerId="LiveId" clId="{2F6D9AE4-852D-4580-BFBD-4043B69AEE08}" dt="2026-10-26T14:34:22.868" v="208" actId="20577"/>
        <pc:sldMkLst>
          <pc:docMk/>
          <pc:sldMk cId="301872852" sldId="265"/>
        </pc:sldMkLst>
        <pc:spChg chg="del">
          <ac:chgData name="Diego Tapia Salazar" userId="c3d00bcd4006f853" providerId="LiveId" clId="{2F6D9AE4-852D-4580-BFBD-4043B69AEE08}" dt="2026-10-26T14:33:46.211" v="191" actId="478"/>
          <ac:spMkLst>
            <pc:docMk/>
            <pc:sldMk cId="301872852" sldId="265"/>
            <ac:spMk id="8" creationId="{7A3F4DB9-7D60-9ABC-1299-A85413CA55EB}"/>
          </ac:spMkLst>
        </pc:spChg>
        <pc:graphicFrameChg chg="add mod modGraphic">
          <ac:chgData name="Diego Tapia Salazar" userId="c3d00bcd4006f853" providerId="LiveId" clId="{2F6D9AE4-852D-4580-BFBD-4043B69AEE08}" dt="2026-10-26T14:34:22.868" v="208" actId="20577"/>
          <ac:graphicFrameMkLst>
            <pc:docMk/>
            <pc:sldMk cId="301872852" sldId="265"/>
            <ac:graphicFrameMk id="2" creationId="{B6EBA026-DF03-BC5C-A813-9CD07CD201A5}"/>
          </ac:graphicFrameMkLst>
        </pc:graphicFrameChg>
        <pc:picChg chg="del">
          <ac:chgData name="Diego Tapia Salazar" userId="c3d00bcd4006f853" providerId="LiveId" clId="{2F6D9AE4-852D-4580-BFBD-4043B69AEE08}" dt="2026-10-26T14:33:47.798" v="192" actId="478"/>
          <ac:picMkLst>
            <pc:docMk/>
            <pc:sldMk cId="301872852" sldId="265"/>
            <ac:picMk id="9" creationId="{6466F96B-EEE3-2CE5-46B0-CBB1E7C4641B}"/>
          </ac:picMkLst>
        </pc:picChg>
      </pc:sldChg>
      <pc:sldChg chg="modSp mod">
        <pc:chgData name="Diego Tapia Salazar" userId="c3d00bcd4006f853" providerId="LiveId" clId="{2F6D9AE4-852D-4580-BFBD-4043B69AEE08}" dt="2026-10-26T14:37:30.721" v="222" actId="20577"/>
        <pc:sldMkLst>
          <pc:docMk/>
          <pc:sldMk cId="3815329617" sldId="266"/>
        </pc:sldMkLst>
        <pc:spChg chg="mod">
          <ac:chgData name="Diego Tapia Salazar" userId="c3d00bcd4006f853" providerId="LiveId" clId="{2F6D9AE4-852D-4580-BFBD-4043B69AEE08}" dt="2026-10-26T14:37:30.721" v="222" actId="20577"/>
          <ac:spMkLst>
            <pc:docMk/>
            <pc:sldMk cId="3815329617" sldId="266"/>
            <ac:spMk id="11" creationId="{A90BA074-C5E7-ACB1-247E-5A499886043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E15462-8F3D-4C51-9038-72DEFD295ECB}" type="doc">
      <dgm:prSet loTypeId="urn:microsoft.com/office/officeart/2005/8/layout/cycle1" loCatId="cycl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s-ES"/>
        </a:p>
      </dgm:t>
    </dgm:pt>
    <dgm:pt modelId="{034CDE8E-B2A9-4E1E-B64A-904B09C20502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2. Presenta el problema y/o necesidad</a:t>
          </a:r>
          <a:r>
            <a:rPr lang="es-ES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Josefin Sans" panose="00000500000000000000" pitchFamily="2" charset="0"/>
            </a:rPr>
            <a:t>.</a:t>
          </a:r>
          <a:endParaRPr lang="es-ES" sz="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D32B512-4431-4188-B4A6-1348AB03D760}" type="parTrans" cxnId="{A5406953-5106-41EF-9E33-1E3B02EF1D24}">
      <dgm:prSet/>
      <dgm:spPr/>
      <dgm:t>
        <a:bodyPr/>
        <a:lstStyle/>
        <a:p>
          <a:endParaRPr lang="es-ES"/>
        </a:p>
      </dgm:t>
    </dgm:pt>
    <dgm:pt modelId="{898D1AD8-C62B-4760-BBB3-CFFA028EEDA8}" type="sibTrans" cxnId="{A5406953-5106-41EF-9E33-1E3B02EF1D24}">
      <dgm:prSet/>
      <dgm:spPr/>
      <dgm:t>
        <a:bodyPr/>
        <a:lstStyle/>
        <a:p>
          <a:endParaRPr lang="es-ES"/>
        </a:p>
      </dgm:t>
    </dgm:pt>
    <dgm:pt modelId="{D45A3878-E47B-4C2C-B18F-233FC4AF1D5A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4. Explica la solución presentando los resultados de la validación y tu Producto Mínimo Viable</a:t>
          </a:r>
        </a:p>
      </dgm:t>
    </dgm:pt>
    <dgm:pt modelId="{07C9023C-5154-403C-AB0D-AA5FE36D9AC7}" type="parTrans" cxnId="{51B3C9F0-8E8E-4FE5-9511-181A3FB4A370}">
      <dgm:prSet/>
      <dgm:spPr/>
      <dgm:t>
        <a:bodyPr/>
        <a:lstStyle/>
        <a:p>
          <a:endParaRPr lang="es-ES"/>
        </a:p>
      </dgm:t>
    </dgm:pt>
    <dgm:pt modelId="{8EAD4F29-F68F-440D-BADC-DC6F8819E824}" type="sibTrans" cxnId="{51B3C9F0-8E8E-4FE5-9511-181A3FB4A370}">
      <dgm:prSet/>
      <dgm:spPr/>
      <dgm:t>
        <a:bodyPr/>
        <a:lstStyle/>
        <a:p>
          <a:endParaRPr lang="es-ES"/>
        </a:p>
      </dgm:t>
    </dgm:pt>
    <dgm:pt modelId="{5A04C44D-C0E1-4B13-8EC9-A0528D875B47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6. Presenta los momentos claves  de tu  idea de negocios. </a:t>
          </a:r>
        </a:p>
      </dgm:t>
    </dgm:pt>
    <dgm:pt modelId="{735D546D-7B51-4C90-B5B8-F431DF17EC4C}" type="parTrans" cxnId="{D70C1D1C-0F1F-4E43-B064-500B47324612}">
      <dgm:prSet/>
      <dgm:spPr/>
      <dgm:t>
        <a:bodyPr/>
        <a:lstStyle/>
        <a:p>
          <a:endParaRPr lang="es-ES"/>
        </a:p>
      </dgm:t>
    </dgm:pt>
    <dgm:pt modelId="{B353A3A0-4BB2-47F8-8660-F5F68DEBB45B}" type="sibTrans" cxnId="{D70C1D1C-0F1F-4E43-B064-500B47324612}">
      <dgm:prSet/>
      <dgm:spPr/>
      <dgm:t>
        <a:bodyPr/>
        <a:lstStyle/>
        <a:p>
          <a:endParaRPr lang="es-ES"/>
        </a:p>
      </dgm:t>
    </dgm:pt>
    <dgm:pt modelId="{DDF5495A-ED8F-4CBF-90AA-52E91B0F974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7. Presente el análisis realizado a la competencia.</a:t>
          </a:r>
        </a:p>
      </dgm:t>
    </dgm:pt>
    <dgm:pt modelId="{A2C3A9C1-39B3-4E11-A150-A9597BD5F3A5}" type="parTrans" cxnId="{5A89F13C-9BCA-4CD1-85EA-B724B4EB9A5B}">
      <dgm:prSet/>
      <dgm:spPr/>
      <dgm:t>
        <a:bodyPr/>
        <a:lstStyle/>
        <a:p>
          <a:endParaRPr lang="es-ES"/>
        </a:p>
      </dgm:t>
    </dgm:pt>
    <dgm:pt modelId="{2643CB98-36A8-4012-B2DC-54D795A23F8E}" type="sibTrans" cxnId="{5A89F13C-9BCA-4CD1-85EA-B724B4EB9A5B}">
      <dgm:prSet/>
      <dgm:spPr/>
      <dgm:t>
        <a:bodyPr/>
        <a:lstStyle/>
        <a:p>
          <a:endParaRPr lang="es-ES"/>
        </a:p>
      </dgm:t>
    </dgm:pt>
    <dgm:pt modelId="{A6444D54-FA08-4C85-877A-BC5406CF4EB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10. Cuenta tu historia y la de tu equipo</a:t>
          </a:r>
        </a:p>
      </dgm:t>
    </dgm:pt>
    <dgm:pt modelId="{C3CA1007-15D4-4A5A-8EF1-02556BC02816}" type="parTrans" cxnId="{FB5EAD8E-F514-4B25-9D97-25E3EC28957C}">
      <dgm:prSet/>
      <dgm:spPr/>
      <dgm:t>
        <a:bodyPr/>
        <a:lstStyle/>
        <a:p>
          <a:endParaRPr lang="es-ES"/>
        </a:p>
      </dgm:t>
    </dgm:pt>
    <dgm:pt modelId="{39EECDCD-7E5A-49DB-BF25-D0428A85E907}" type="sibTrans" cxnId="{FB5EAD8E-F514-4B25-9D97-25E3EC28957C}">
      <dgm:prSet/>
      <dgm:spPr/>
      <dgm:t>
        <a:bodyPr/>
        <a:lstStyle/>
        <a:p>
          <a:endParaRPr lang="es-ES"/>
        </a:p>
      </dgm:t>
    </dgm:pt>
    <dgm:pt modelId="{1A7A6048-8D1E-4CCB-AB57-A75B91002020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5. Focaliza la atención en la oportunidad del negocio. </a:t>
          </a:r>
        </a:p>
      </dgm:t>
    </dgm:pt>
    <dgm:pt modelId="{3C61DCC7-D067-4AF7-B323-CA19CC6FC2D1}" type="parTrans" cxnId="{188F5469-7F54-45AE-8DCF-81C2C30149EF}">
      <dgm:prSet/>
      <dgm:spPr/>
      <dgm:t>
        <a:bodyPr/>
        <a:lstStyle/>
        <a:p>
          <a:endParaRPr lang="es-ES"/>
        </a:p>
      </dgm:t>
    </dgm:pt>
    <dgm:pt modelId="{479B4475-028B-49AA-B2F9-90BDBEE58BE0}" type="sibTrans" cxnId="{188F5469-7F54-45AE-8DCF-81C2C30149EF}">
      <dgm:prSet/>
      <dgm:spPr/>
      <dgm:t>
        <a:bodyPr/>
        <a:lstStyle/>
        <a:p>
          <a:endParaRPr lang="es-ES"/>
        </a:p>
      </dgm:t>
    </dgm:pt>
    <dgm:pt modelId="{6BE05E82-0788-434F-8F1F-766CCBB53E26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8. Describe la estrategia de mercado y canales de ventas.</a:t>
          </a:r>
        </a:p>
      </dgm:t>
    </dgm:pt>
    <dgm:pt modelId="{54298CCB-BB42-4CAF-810E-91D928F773ED}" type="parTrans" cxnId="{BF7A8D97-B1E5-4353-B6B3-E3190750EA2D}">
      <dgm:prSet/>
      <dgm:spPr/>
      <dgm:t>
        <a:bodyPr/>
        <a:lstStyle/>
        <a:p>
          <a:endParaRPr lang="es-ES"/>
        </a:p>
      </dgm:t>
    </dgm:pt>
    <dgm:pt modelId="{CBBF1D43-21BB-410C-AC6C-70C1D793650C}" type="sibTrans" cxnId="{BF7A8D97-B1E5-4353-B6B3-E3190750EA2D}">
      <dgm:prSet/>
      <dgm:spPr/>
      <dgm:t>
        <a:bodyPr/>
        <a:lstStyle/>
        <a:p>
          <a:endParaRPr lang="es-ES"/>
        </a:p>
      </dgm:t>
    </dgm:pt>
    <dgm:pt modelId="{2876A3AF-B4F2-4DB1-8BAA-28B5221EB7CB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9. Presente las cifras de tu modelo de negocio . </a:t>
          </a:r>
        </a:p>
      </dgm:t>
    </dgm:pt>
    <dgm:pt modelId="{A54849D3-978E-4AEF-BE10-1000943F0C62}" type="parTrans" cxnId="{A2BB935A-1673-4E24-9772-4C44973FA503}">
      <dgm:prSet/>
      <dgm:spPr/>
      <dgm:t>
        <a:bodyPr/>
        <a:lstStyle/>
        <a:p>
          <a:endParaRPr lang="es-ES"/>
        </a:p>
      </dgm:t>
    </dgm:pt>
    <dgm:pt modelId="{A2344B46-04F2-4FB8-876F-797A525BBF96}" type="sibTrans" cxnId="{A2BB935A-1673-4E24-9772-4C44973FA503}">
      <dgm:prSet/>
      <dgm:spPr/>
      <dgm:t>
        <a:bodyPr/>
        <a:lstStyle/>
        <a:p>
          <a:endParaRPr lang="es-ES"/>
        </a:p>
      </dgm:t>
    </dgm:pt>
    <dgm:pt modelId="{187513CB-0041-48B1-8C3C-3793F176A38C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3. ¿A quién le sirve lo que hago?</a:t>
          </a:r>
        </a:p>
      </dgm:t>
    </dgm:pt>
    <dgm:pt modelId="{8949FE4E-3294-4BCB-911F-B885278D68F4}" type="parTrans" cxnId="{B84210D0-4EBE-49B8-B9AC-88A965777B26}">
      <dgm:prSet/>
      <dgm:spPr/>
      <dgm:t>
        <a:bodyPr/>
        <a:lstStyle/>
        <a:p>
          <a:endParaRPr lang="es-ES"/>
        </a:p>
      </dgm:t>
    </dgm:pt>
    <dgm:pt modelId="{91AF92F1-664C-44A9-A9AF-60B4FDE9F772}" type="sibTrans" cxnId="{B84210D0-4EBE-49B8-B9AC-88A965777B26}">
      <dgm:prSet/>
      <dgm:spPr/>
      <dgm:t>
        <a:bodyPr/>
        <a:lstStyle/>
        <a:p>
          <a:endParaRPr lang="es-ES"/>
        </a:p>
      </dgm:t>
    </dgm:pt>
    <dgm:pt modelId="{A7C14BFC-42FD-484E-A7DC-C81B0C13922D}">
      <dgm:prSet phldrT="[Texto]" custT="1"/>
      <dgm:spPr/>
      <dgm:t>
        <a:bodyPr/>
        <a:lstStyle/>
        <a:p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1. ¿Quién es el Emprendedor?</a:t>
          </a:r>
        </a:p>
      </dgm:t>
    </dgm:pt>
    <dgm:pt modelId="{484E0BE8-1F82-4C49-81A1-CA7D3184A632}" type="parTrans" cxnId="{B6CFFF5C-1847-43B3-A3A4-689062C97691}">
      <dgm:prSet/>
      <dgm:spPr/>
      <dgm:t>
        <a:bodyPr/>
        <a:lstStyle/>
        <a:p>
          <a:endParaRPr lang="es-ES"/>
        </a:p>
      </dgm:t>
    </dgm:pt>
    <dgm:pt modelId="{3E45865D-2544-4A4A-824E-AB2F19DC12D1}" type="sibTrans" cxnId="{B6CFFF5C-1847-43B3-A3A4-689062C97691}">
      <dgm:prSet/>
      <dgm:spPr/>
      <dgm:t>
        <a:bodyPr/>
        <a:lstStyle/>
        <a:p>
          <a:endParaRPr lang="es-ES"/>
        </a:p>
      </dgm:t>
    </dgm:pt>
    <dgm:pt modelId="{5724728F-2991-471C-8F3E-8655C7CF9A7F}" type="pres">
      <dgm:prSet presAssocID="{05E15462-8F3D-4C51-9038-72DEFD295ECB}" presName="cycle" presStyleCnt="0">
        <dgm:presLayoutVars>
          <dgm:dir/>
          <dgm:resizeHandles val="exact"/>
        </dgm:presLayoutVars>
      </dgm:prSet>
      <dgm:spPr/>
    </dgm:pt>
    <dgm:pt modelId="{7553334A-46BC-496D-AD66-04BC3B4CFE45}" type="pres">
      <dgm:prSet presAssocID="{A7C14BFC-42FD-484E-A7DC-C81B0C13922D}" presName="dummy" presStyleCnt="0"/>
      <dgm:spPr/>
    </dgm:pt>
    <dgm:pt modelId="{3B3F15E8-7D55-4FC5-BDE6-E09F64430BA7}" type="pres">
      <dgm:prSet presAssocID="{A7C14BFC-42FD-484E-A7DC-C81B0C13922D}" presName="node" presStyleLbl="revTx" presStyleIdx="0" presStyleCnt="10" custScaleX="161151" custRadScaleRad="98316" custRadScaleInc="4437">
        <dgm:presLayoutVars>
          <dgm:bulletEnabled val="1"/>
        </dgm:presLayoutVars>
      </dgm:prSet>
      <dgm:spPr/>
    </dgm:pt>
    <dgm:pt modelId="{6E13AB0A-5338-43D8-B58F-44F7F16C54D7}" type="pres">
      <dgm:prSet presAssocID="{3E45865D-2544-4A4A-824E-AB2F19DC12D1}" presName="sibTrans" presStyleLbl="node1" presStyleIdx="0" presStyleCnt="10"/>
      <dgm:spPr/>
    </dgm:pt>
    <dgm:pt modelId="{01F90C7E-170C-408F-BBD0-08B3EC1512B8}" type="pres">
      <dgm:prSet presAssocID="{034CDE8E-B2A9-4E1E-B64A-904B09C20502}" presName="dummy" presStyleCnt="0"/>
      <dgm:spPr/>
    </dgm:pt>
    <dgm:pt modelId="{420BD5EA-43B2-44FA-8803-BCC6A1A5A971}" type="pres">
      <dgm:prSet presAssocID="{034CDE8E-B2A9-4E1E-B64A-904B09C20502}" presName="node" presStyleLbl="revTx" presStyleIdx="1" presStyleCnt="10" custScaleX="176307">
        <dgm:presLayoutVars>
          <dgm:bulletEnabled val="1"/>
        </dgm:presLayoutVars>
      </dgm:prSet>
      <dgm:spPr/>
    </dgm:pt>
    <dgm:pt modelId="{C5A28ECE-5F95-4A81-8113-75DC5544F906}" type="pres">
      <dgm:prSet presAssocID="{898D1AD8-C62B-4760-BBB3-CFFA028EEDA8}" presName="sibTrans" presStyleLbl="node1" presStyleIdx="1" presStyleCnt="10"/>
      <dgm:spPr/>
    </dgm:pt>
    <dgm:pt modelId="{88C4B6AB-74EB-4C33-AEC2-F873BE56C77E}" type="pres">
      <dgm:prSet presAssocID="{187513CB-0041-48B1-8C3C-3793F176A38C}" presName="dummy" presStyleCnt="0"/>
      <dgm:spPr/>
    </dgm:pt>
    <dgm:pt modelId="{9777A358-330E-42F4-A39C-90DE533A7C5A}" type="pres">
      <dgm:prSet presAssocID="{187513CB-0041-48B1-8C3C-3793F176A38C}" presName="node" presStyleLbl="revTx" presStyleIdx="2" presStyleCnt="10" custScaleX="141465" custScaleY="80155" custRadScaleRad="102335" custRadScaleInc="-16440">
        <dgm:presLayoutVars>
          <dgm:bulletEnabled val="1"/>
        </dgm:presLayoutVars>
      </dgm:prSet>
      <dgm:spPr/>
    </dgm:pt>
    <dgm:pt modelId="{4CFAF20E-2CE9-410D-8C4F-99A003CC7A05}" type="pres">
      <dgm:prSet presAssocID="{91AF92F1-664C-44A9-A9AF-60B4FDE9F772}" presName="sibTrans" presStyleLbl="node1" presStyleIdx="2" presStyleCnt="10"/>
      <dgm:spPr/>
    </dgm:pt>
    <dgm:pt modelId="{14BA54F5-845B-4279-9CE6-EE3BF42F5D6D}" type="pres">
      <dgm:prSet presAssocID="{D45A3878-E47B-4C2C-B18F-233FC4AF1D5A}" presName="dummy" presStyleCnt="0"/>
      <dgm:spPr/>
    </dgm:pt>
    <dgm:pt modelId="{9D700E5C-BD52-44F7-8383-C15FE2812038}" type="pres">
      <dgm:prSet presAssocID="{D45A3878-E47B-4C2C-B18F-233FC4AF1D5A}" presName="node" presStyleLbl="revTx" presStyleIdx="3" presStyleCnt="10" custScaleX="252781" custScaleY="106663">
        <dgm:presLayoutVars>
          <dgm:bulletEnabled val="1"/>
        </dgm:presLayoutVars>
      </dgm:prSet>
      <dgm:spPr/>
    </dgm:pt>
    <dgm:pt modelId="{AC31F8FC-833D-4CF5-AD19-1119055ECA89}" type="pres">
      <dgm:prSet presAssocID="{8EAD4F29-F68F-440D-BADC-DC6F8819E824}" presName="sibTrans" presStyleLbl="node1" presStyleIdx="3" presStyleCnt="10"/>
      <dgm:spPr/>
    </dgm:pt>
    <dgm:pt modelId="{4196D907-CD02-48D9-B960-003FFDCA0085}" type="pres">
      <dgm:prSet presAssocID="{1A7A6048-8D1E-4CCB-AB57-A75B91002020}" presName="dummy" presStyleCnt="0"/>
      <dgm:spPr/>
    </dgm:pt>
    <dgm:pt modelId="{DC19223B-BA97-489C-9FA1-B5820447A0A9}" type="pres">
      <dgm:prSet presAssocID="{1A7A6048-8D1E-4CCB-AB57-A75B91002020}" presName="node" presStyleLbl="revTx" presStyleIdx="4" presStyleCnt="10" custScaleX="176070">
        <dgm:presLayoutVars>
          <dgm:bulletEnabled val="1"/>
        </dgm:presLayoutVars>
      </dgm:prSet>
      <dgm:spPr/>
    </dgm:pt>
    <dgm:pt modelId="{08A8699B-3356-4B7B-86C7-BB255DDA25C7}" type="pres">
      <dgm:prSet presAssocID="{479B4475-028B-49AA-B2F9-90BDBEE58BE0}" presName="sibTrans" presStyleLbl="node1" presStyleIdx="4" presStyleCnt="10"/>
      <dgm:spPr/>
    </dgm:pt>
    <dgm:pt modelId="{2D917792-A278-42C5-B9B9-E43B90B8C142}" type="pres">
      <dgm:prSet presAssocID="{5A04C44D-C0E1-4B13-8EC9-A0528D875B47}" presName="dummy" presStyleCnt="0"/>
      <dgm:spPr/>
    </dgm:pt>
    <dgm:pt modelId="{2959AFB0-C8CA-4E0A-A53F-203C7FFFBF0A}" type="pres">
      <dgm:prSet presAssocID="{5A04C44D-C0E1-4B13-8EC9-A0528D875B47}" presName="node" presStyleLbl="revTx" presStyleIdx="5" presStyleCnt="10" custScaleX="172944">
        <dgm:presLayoutVars>
          <dgm:bulletEnabled val="1"/>
        </dgm:presLayoutVars>
      </dgm:prSet>
      <dgm:spPr/>
    </dgm:pt>
    <dgm:pt modelId="{DC6AC8A5-37C0-4DE2-B2BE-410A5BFD8F16}" type="pres">
      <dgm:prSet presAssocID="{B353A3A0-4BB2-47F8-8660-F5F68DEBB45B}" presName="sibTrans" presStyleLbl="node1" presStyleIdx="5" presStyleCnt="10" custScaleX="120544" custScaleY="96035"/>
      <dgm:spPr/>
    </dgm:pt>
    <dgm:pt modelId="{2F0D8111-9349-4F5B-A135-6790DAD0F65C}" type="pres">
      <dgm:prSet presAssocID="{DDF5495A-ED8F-4CBF-90AA-52E91B0F974D}" presName="dummy" presStyleCnt="0"/>
      <dgm:spPr/>
    </dgm:pt>
    <dgm:pt modelId="{30E18A30-8612-448E-9FCD-A4E8B810D55A}" type="pres">
      <dgm:prSet presAssocID="{DDF5495A-ED8F-4CBF-90AA-52E91B0F974D}" presName="node" presStyleLbl="revTx" presStyleIdx="6" presStyleCnt="10" custScaleX="197765">
        <dgm:presLayoutVars>
          <dgm:bulletEnabled val="1"/>
        </dgm:presLayoutVars>
      </dgm:prSet>
      <dgm:spPr/>
    </dgm:pt>
    <dgm:pt modelId="{0D57837E-456A-47B7-93E4-3ADD42796347}" type="pres">
      <dgm:prSet presAssocID="{2643CB98-36A8-4012-B2DC-54D795A23F8E}" presName="sibTrans" presStyleLbl="node1" presStyleIdx="6" presStyleCnt="10"/>
      <dgm:spPr/>
    </dgm:pt>
    <dgm:pt modelId="{C5460AA0-0973-44A5-A62B-DF756CD6918B}" type="pres">
      <dgm:prSet presAssocID="{6BE05E82-0788-434F-8F1F-766CCBB53E26}" presName="dummy" presStyleCnt="0"/>
      <dgm:spPr/>
    </dgm:pt>
    <dgm:pt modelId="{BDBA44C2-FAC8-4B97-8397-316AEF75DF95}" type="pres">
      <dgm:prSet presAssocID="{6BE05E82-0788-434F-8F1F-766CCBB53E26}" presName="node" presStyleLbl="revTx" presStyleIdx="7" presStyleCnt="10" custScaleX="215082">
        <dgm:presLayoutVars>
          <dgm:bulletEnabled val="1"/>
        </dgm:presLayoutVars>
      </dgm:prSet>
      <dgm:spPr/>
    </dgm:pt>
    <dgm:pt modelId="{D0D498C8-D633-4DAB-A232-DDE8FFFB5F15}" type="pres">
      <dgm:prSet presAssocID="{CBBF1D43-21BB-410C-AC6C-70C1D793650C}" presName="sibTrans" presStyleLbl="node1" presStyleIdx="7" presStyleCnt="10"/>
      <dgm:spPr/>
    </dgm:pt>
    <dgm:pt modelId="{61420328-E97A-4C20-AE5E-71DE1D92F3FB}" type="pres">
      <dgm:prSet presAssocID="{2876A3AF-B4F2-4DB1-8BAA-28B5221EB7CB}" presName="dummy" presStyleCnt="0"/>
      <dgm:spPr/>
    </dgm:pt>
    <dgm:pt modelId="{FEF4C21C-9519-4E2B-BDEC-2672152CB9DB}" type="pres">
      <dgm:prSet presAssocID="{2876A3AF-B4F2-4DB1-8BAA-28B5221EB7CB}" presName="node" presStyleLbl="revTx" presStyleIdx="8" presStyleCnt="10" custScaleX="214732">
        <dgm:presLayoutVars>
          <dgm:bulletEnabled val="1"/>
        </dgm:presLayoutVars>
      </dgm:prSet>
      <dgm:spPr/>
    </dgm:pt>
    <dgm:pt modelId="{B33A4974-B8FC-4117-BB7D-FCAC4975A154}" type="pres">
      <dgm:prSet presAssocID="{A2344B46-04F2-4FB8-876F-797A525BBF96}" presName="sibTrans" presStyleLbl="node1" presStyleIdx="8" presStyleCnt="10"/>
      <dgm:spPr/>
    </dgm:pt>
    <dgm:pt modelId="{DFE84411-DF4A-4838-B368-37F058FB850F}" type="pres">
      <dgm:prSet presAssocID="{A6444D54-FA08-4C85-877A-BC5406CF4EBD}" presName="dummy" presStyleCnt="0"/>
      <dgm:spPr/>
    </dgm:pt>
    <dgm:pt modelId="{D5A464D3-EE9A-402A-B509-F4AF5037A84F}" type="pres">
      <dgm:prSet presAssocID="{A6444D54-FA08-4C85-877A-BC5406CF4EBD}" presName="node" presStyleLbl="revTx" presStyleIdx="9" presStyleCnt="10" custScaleX="147432" custRadScaleRad="101234" custRadScaleInc="1999">
        <dgm:presLayoutVars>
          <dgm:bulletEnabled val="1"/>
        </dgm:presLayoutVars>
      </dgm:prSet>
      <dgm:spPr/>
    </dgm:pt>
    <dgm:pt modelId="{967C72B1-2C49-4884-AC8E-83A3A1C4B2E6}" type="pres">
      <dgm:prSet presAssocID="{39EECDCD-7E5A-49DB-BF25-D0428A85E907}" presName="sibTrans" presStyleLbl="node1" presStyleIdx="9" presStyleCnt="10"/>
      <dgm:spPr/>
    </dgm:pt>
  </dgm:ptLst>
  <dgm:cxnLst>
    <dgm:cxn modelId="{52915F01-4A3E-45AE-8B8A-7CF962986823}" type="presOf" srcId="{DDF5495A-ED8F-4CBF-90AA-52E91B0F974D}" destId="{30E18A30-8612-448E-9FCD-A4E8B810D55A}" srcOrd="0" destOrd="0" presId="urn:microsoft.com/office/officeart/2005/8/layout/cycle1"/>
    <dgm:cxn modelId="{D70C1D1C-0F1F-4E43-B064-500B47324612}" srcId="{05E15462-8F3D-4C51-9038-72DEFD295ECB}" destId="{5A04C44D-C0E1-4B13-8EC9-A0528D875B47}" srcOrd="5" destOrd="0" parTransId="{735D546D-7B51-4C90-B5B8-F431DF17EC4C}" sibTransId="{B353A3A0-4BB2-47F8-8660-F5F68DEBB45B}"/>
    <dgm:cxn modelId="{C0A0F42D-308F-4B81-8F79-03A4FF870FBE}" type="presOf" srcId="{6BE05E82-0788-434F-8F1F-766CCBB53E26}" destId="{BDBA44C2-FAC8-4B97-8397-316AEF75DF95}" srcOrd="0" destOrd="0" presId="urn:microsoft.com/office/officeart/2005/8/layout/cycle1"/>
    <dgm:cxn modelId="{B1334330-C25C-4CF3-A6A6-424738A9FF83}" type="presOf" srcId="{91AF92F1-664C-44A9-A9AF-60B4FDE9F772}" destId="{4CFAF20E-2CE9-410D-8C4F-99A003CC7A05}" srcOrd="0" destOrd="0" presId="urn:microsoft.com/office/officeart/2005/8/layout/cycle1"/>
    <dgm:cxn modelId="{74320E36-F702-4786-B766-631E0F214044}" type="presOf" srcId="{479B4475-028B-49AA-B2F9-90BDBEE58BE0}" destId="{08A8699B-3356-4B7B-86C7-BB255DDA25C7}" srcOrd="0" destOrd="0" presId="urn:microsoft.com/office/officeart/2005/8/layout/cycle1"/>
    <dgm:cxn modelId="{B0A2A037-E134-479E-9CD9-D9A7841A09AA}" type="presOf" srcId="{CBBF1D43-21BB-410C-AC6C-70C1D793650C}" destId="{D0D498C8-D633-4DAB-A232-DDE8FFFB5F15}" srcOrd="0" destOrd="0" presId="urn:microsoft.com/office/officeart/2005/8/layout/cycle1"/>
    <dgm:cxn modelId="{5A89F13C-9BCA-4CD1-85EA-B724B4EB9A5B}" srcId="{05E15462-8F3D-4C51-9038-72DEFD295ECB}" destId="{DDF5495A-ED8F-4CBF-90AA-52E91B0F974D}" srcOrd="6" destOrd="0" parTransId="{A2C3A9C1-39B3-4E11-A150-A9597BD5F3A5}" sibTransId="{2643CB98-36A8-4012-B2DC-54D795A23F8E}"/>
    <dgm:cxn modelId="{374C495C-83C5-49A4-B278-9D6EEC42597B}" type="presOf" srcId="{A7C14BFC-42FD-484E-A7DC-C81B0C13922D}" destId="{3B3F15E8-7D55-4FC5-BDE6-E09F64430BA7}" srcOrd="0" destOrd="0" presId="urn:microsoft.com/office/officeart/2005/8/layout/cycle1"/>
    <dgm:cxn modelId="{B6CFFF5C-1847-43B3-A3A4-689062C97691}" srcId="{05E15462-8F3D-4C51-9038-72DEFD295ECB}" destId="{A7C14BFC-42FD-484E-A7DC-C81B0C13922D}" srcOrd="0" destOrd="0" parTransId="{484E0BE8-1F82-4C49-81A1-CA7D3184A632}" sibTransId="{3E45865D-2544-4A4A-824E-AB2F19DC12D1}"/>
    <dgm:cxn modelId="{3FADF241-E85F-479F-9D2B-DDF757CB2D3D}" type="presOf" srcId="{1A7A6048-8D1E-4CCB-AB57-A75B91002020}" destId="{DC19223B-BA97-489C-9FA1-B5820447A0A9}" srcOrd="0" destOrd="0" presId="urn:microsoft.com/office/officeart/2005/8/layout/cycle1"/>
    <dgm:cxn modelId="{78994D67-6C56-42AA-9A92-74B9562778D0}" type="presOf" srcId="{3E45865D-2544-4A4A-824E-AB2F19DC12D1}" destId="{6E13AB0A-5338-43D8-B58F-44F7F16C54D7}" srcOrd="0" destOrd="0" presId="urn:microsoft.com/office/officeart/2005/8/layout/cycle1"/>
    <dgm:cxn modelId="{188F5469-7F54-45AE-8DCF-81C2C30149EF}" srcId="{05E15462-8F3D-4C51-9038-72DEFD295ECB}" destId="{1A7A6048-8D1E-4CCB-AB57-A75B91002020}" srcOrd="4" destOrd="0" parTransId="{3C61DCC7-D067-4AF7-B323-CA19CC6FC2D1}" sibTransId="{479B4475-028B-49AA-B2F9-90BDBEE58BE0}"/>
    <dgm:cxn modelId="{FD37194A-24B4-41AB-A8E5-5BBEE7002A7C}" type="presOf" srcId="{5A04C44D-C0E1-4B13-8EC9-A0528D875B47}" destId="{2959AFB0-C8CA-4E0A-A53F-203C7FFFBF0A}" srcOrd="0" destOrd="0" presId="urn:microsoft.com/office/officeart/2005/8/layout/cycle1"/>
    <dgm:cxn modelId="{A733A46A-4896-4752-9173-DAC184FAF02B}" type="presOf" srcId="{034CDE8E-B2A9-4E1E-B64A-904B09C20502}" destId="{420BD5EA-43B2-44FA-8803-BCC6A1A5A971}" srcOrd="0" destOrd="0" presId="urn:microsoft.com/office/officeart/2005/8/layout/cycle1"/>
    <dgm:cxn modelId="{3839C451-7E83-4F7B-9F86-51C82D303344}" type="presOf" srcId="{2876A3AF-B4F2-4DB1-8BAA-28B5221EB7CB}" destId="{FEF4C21C-9519-4E2B-BDEC-2672152CB9DB}" srcOrd="0" destOrd="0" presId="urn:microsoft.com/office/officeart/2005/8/layout/cycle1"/>
    <dgm:cxn modelId="{A5406953-5106-41EF-9E33-1E3B02EF1D24}" srcId="{05E15462-8F3D-4C51-9038-72DEFD295ECB}" destId="{034CDE8E-B2A9-4E1E-B64A-904B09C20502}" srcOrd="1" destOrd="0" parTransId="{FD32B512-4431-4188-B4A6-1348AB03D760}" sibTransId="{898D1AD8-C62B-4760-BBB3-CFFA028EEDA8}"/>
    <dgm:cxn modelId="{2DC2AB74-D75D-4802-98C9-690EF6EE66F8}" type="presOf" srcId="{D45A3878-E47B-4C2C-B18F-233FC4AF1D5A}" destId="{9D700E5C-BD52-44F7-8383-C15FE2812038}" srcOrd="0" destOrd="0" presId="urn:microsoft.com/office/officeart/2005/8/layout/cycle1"/>
    <dgm:cxn modelId="{8E0B1759-B891-4C54-B572-0D751DB9C1B8}" type="presOf" srcId="{2643CB98-36A8-4012-B2DC-54D795A23F8E}" destId="{0D57837E-456A-47B7-93E4-3ADD42796347}" srcOrd="0" destOrd="0" presId="urn:microsoft.com/office/officeart/2005/8/layout/cycle1"/>
    <dgm:cxn modelId="{215C5279-BEE9-4936-9FAA-B984C3BE419E}" type="presOf" srcId="{A6444D54-FA08-4C85-877A-BC5406CF4EBD}" destId="{D5A464D3-EE9A-402A-B509-F4AF5037A84F}" srcOrd="0" destOrd="0" presId="urn:microsoft.com/office/officeart/2005/8/layout/cycle1"/>
    <dgm:cxn modelId="{A2BB935A-1673-4E24-9772-4C44973FA503}" srcId="{05E15462-8F3D-4C51-9038-72DEFD295ECB}" destId="{2876A3AF-B4F2-4DB1-8BAA-28B5221EB7CB}" srcOrd="8" destOrd="0" parTransId="{A54849D3-978E-4AEF-BE10-1000943F0C62}" sibTransId="{A2344B46-04F2-4FB8-876F-797A525BBF96}"/>
    <dgm:cxn modelId="{0CE4E77E-D2ED-4B9E-9887-45E6045A1D33}" type="presOf" srcId="{05E15462-8F3D-4C51-9038-72DEFD295ECB}" destId="{5724728F-2991-471C-8F3E-8655C7CF9A7F}" srcOrd="0" destOrd="0" presId="urn:microsoft.com/office/officeart/2005/8/layout/cycle1"/>
    <dgm:cxn modelId="{CB50CC8D-C7D1-4E38-831E-CDEF86C13E8C}" type="presOf" srcId="{8EAD4F29-F68F-440D-BADC-DC6F8819E824}" destId="{AC31F8FC-833D-4CF5-AD19-1119055ECA89}" srcOrd="0" destOrd="0" presId="urn:microsoft.com/office/officeart/2005/8/layout/cycle1"/>
    <dgm:cxn modelId="{FB5EAD8E-F514-4B25-9D97-25E3EC28957C}" srcId="{05E15462-8F3D-4C51-9038-72DEFD295ECB}" destId="{A6444D54-FA08-4C85-877A-BC5406CF4EBD}" srcOrd="9" destOrd="0" parTransId="{C3CA1007-15D4-4A5A-8EF1-02556BC02816}" sibTransId="{39EECDCD-7E5A-49DB-BF25-D0428A85E907}"/>
    <dgm:cxn modelId="{BF7A8D97-B1E5-4353-B6B3-E3190750EA2D}" srcId="{05E15462-8F3D-4C51-9038-72DEFD295ECB}" destId="{6BE05E82-0788-434F-8F1F-766CCBB53E26}" srcOrd="7" destOrd="0" parTransId="{54298CCB-BB42-4CAF-810E-91D928F773ED}" sibTransId="{CBBF1D43-21BB-410C-AC6C-70C1D793650C}"/>
    <dgm:cxn modelId="{57E73DAD-0F8D-4CD5-B8E0-F245037A796D}" type="presOf" srcId="{39EECDCD-7E5A-49DB-BF25-D0428A85E907}" destId="{967C72B1-2C49-4884-AC8E-83A3A1C4B2E6}" srcOrd="0" destOrd="0" presId="urn:microsoft.com/office/officeart/2005/8/layout/cycle1"/>
    <dgm:cxn modelId="{DEF2CEB0-C617-492D-A263-09E9D26491AC}" type="presOf" srcId="{A2344B46-04F2-4FB8-876F-797A525BBF96}" destId="{B33A4974-B8FC-4117-BB7D-FCAC4975A154}" srcOrd="0" destOrd="0" presId="urn:microsoft.com/office/officeart/2005/8/layout/cycle1"/>
    <dgm:cxn modelId="{F247B1B7-04EB-4A35-A411-4EEADA22E529}" type="presOf" srcId="{187513CB-0041-48B1-8C3C-3793F176A38C}" destId="{9777A358-330E-42F4-A39C-90DE533A7C5A}" srcOrd="0" destOrd="0" presId="urn:microsoft.com/office/officeart/2005/8/layout/cycle1"/>
    <dgm:cxn modelId="{B84210D0-4EBE-49B8-B9AC-88A965777B26}" srcId="{05E15462-8F3D-4C51-9038-72DEFD295ECB}" destId="{187513CB-0041-48B1-8C3C-3793F176A38C}" srcOrd="2" destOrd="0" parTransId="{8949FE4E-3294-4BCB-911F-B885278D68F4}" sibTransId="{91AF92F1-664C-44A9-A9AF-60B4FDE9F772}"/>
    <dgm:cxn modelId="{29E4F4D9-BDB9-46A2-8216-4521AB777B9D}" type="presOf" srcId="{B353A3A0-4BB2-47F8-8660-F5F68DEBB45B}" destId="{DC6AC8A5-37C0-4DE2-B2BE-410A5BFD8F16}" srcOrd="0" destOrd="0" presId="urn:microsoft.com/office/officeart/2005/8/layout/cycle1"/>
    <dgm:cxn modelId="{5115A6E9-2FFF-47C6-AB56-15619D9E2535}" type="presOf" srcId="{898D1AD8-C62B-4760-BBB3-CFFA028EEDA8}" destId="{C5A28ECE-5F95-4A81-8113-75DC5544F906}" srcOrd="0" destOrd="0" presId="urn:microsoft.com/office/officeart/2005/8/layout/cycle1"/>
    <dgm:cxn modelId="{51B3C9F0-8E8E-4FE5-9511-181A3FB4A370}" srcId="{05E15462-8F3D-4C51-9038-72DEFD295ECB}" destId="{D45A3878-E47B-4C2C-B18F-233FC4AF1D5A}" srcOrd="3" destOrd="0" parTransId="{07C9023C-5154-403C-AB0D-AA5FE36D9AC7}" sibTransId="{8EAD4F29-F68F-440D-BADC-DC6F8819E824}"/>
    <dgm:cxn modelId="{ACDF6AC7-CEC5-4AF3-A75A-6A31F2A785EF}" type="presParOf" srcId="{5724728F-2991-471C-8F3E-8655C7CF9A7F}" destId="{7553334A-46BC-496D-AD66-04BC3B4CFE45}" srcOrd="0" destOrd="0" presId="urn:microsoft.com/office/officeart/2005/8/layout/cycle1"/>
    <dgm:cxn modelId="{EA6E3C76-E4EE-40E5-86FA-548EA61427D0}" type="presParOf" srcId="{5724728F-2991-471C-8F3E-8655C7CF9A7F}" destId="{3B3F15E8-7D55-4FC5-BDE6-E09F64430BA7}" srcOrd="1" destOrd="0" presId="urn:microsoft.com/office/officeart/2005/8/layout/cycle1"/>
    <dgm:cxn modelId="{42A3FE92-F76A-4503-9DE0-6028E5F680CC}" type="presParOf" srcId="{5724728F-2991-471C-8F3E-8655C7CF9A7F}" destId="{6E13AB0A-5338-43D8-B58F-44F7F16C54D7}" srcOrd="2" destOrd="0" presId="urn:microsoft.com/office/officeart/2005/8/layout/cycle1"/>
    <dgm:cxn modelId="{8CECE814-F829-4F0B-B63D-580B5AB9E4B5}" type="presParOf" srcId="{5724728F-2991-471C-8F3E-8655C7CF9A7F}" destId="{01F90C7E-170C-408F-BBD0-08B3EC1512B8}" srcOrd="3" destOrd="0" presId="urn:microsoft.com/office/officeart/2005/8/layout/cycle1"/>
    <dgm:cxn modelId="{C1A7F984-5898-4694-B755-4F8BE6E61AE1}" type="presParOf" srcId="{5724728F-2991-471C-8F3E-8655C7CF9A7F}" destId="{420BD5EA-43B2-44FA-8803-BCC6A1A5A971}" srcOrd="4" destOrd="0" presId="urn:microsoft.com/office/officeart/2005/8/layout/cycle1"/>
    <dgm:cxn modelId="{21EB5A9E-B2B5-4D50-8E47-6AF0CEF0C951}" type="presParOf" srcId="{5724728F-2991-471C-8F3E-8655C7CF9A7F}" destId="{C5A28ECE-5F95-4A81-8113-75DC5544F906}" srcOrd="5" destOrd="0" presId="urn:microsoft.com/office/officeart/2005/8/layout/cycle1"/>
    <dgm:cxn modelId="{9DE33979-BA1E-4B2D-A468-291598E50DC4}" type="presParOf" srcId="{5724728F-2991-471C-8F3E-8655C7CF9A7F}" destId="{88C4B6AB-74EB-4C33-AEC2-F873BE56C77E}" srcOrd="6" destOrd="0" presId="urn:microsoft.com/office/officeart/2005/8/layout/cycle1"/>
    <dgm:cxn modelId="{16A5293D-2697-45E0-836E-800EE229FC4D}" type="presParOf" srcId="{5724728F-2991-471C-8F3E-8655C7CF9A7F}" destId="{9777A358-330E-42F4-A39C-90DE533A7C5A}" srcOrd="7" destOrd="0" presId="urn:microsoft.com/office/officeart/2005/8/layout/cycle1"/>
    <dgm:cxn modelId="{E7854888-197D-4FB3-B229-92DCB0AFBF62}" type="presParOf" srcId="{5724728F-2991-471C-8F3E-8655C7CF9A7F}" destId="{4CFAF20E-2CE9-410D-8C4F-99A003CC7A05}" srcOrd="8" destOrd="0" presId="urn:microsoft.com/office/officeart/2005/8/layout/cycle1"/>
    <dgm:cxn modelId="{1B0FD962-4907-44D5-B6DE-DF979D50A5E9}" type="presParOf" srcId="{5724728F-2991-471C-8F3E-8655C7CF9A7F}" destId="{14BA54F5-845B-4279-9CE6-EE3BF42F5D6D}" srcOrd="9" destOrd="0" presId="urn:microsoft.com/office/officeart/2005/8/layout/cycle1"/>
    <dgm:cxn modelId="{8CF9888E-45B8-4B98-B9EC-E658EEEC37CA}" type="presParOf" srcId="{5724728F-2991-471C-8F3E-8655C7CF9A7F}" destId="{9D700E5C-BD52-44F7-8383-C15FE2812038}" srcOrd="10" destOrd="0" presId="urn:microsoft.com/office/officeart/2005/8/layout/cycle1"/>
    <dgm:cxn modelId="{B58BE73F-EEB6-488D-959A-49766D4598D7}" type="presParOf" srcId="{5724728F-2991-471C-8F3E-8655C7CF9A7F}" destId="{AC31F8FC-833D-4CF5-AD19-1119055ECA89}" srcOrd="11" destOrd="0" presId="urn:microsoft.com/office/officeart/2005/8/layout/cycle1"/>
    <dgm:cxn modelId="{79CBFA1C-311D-4B28-B98E-7BA1E38B6EF2}" type="presParOf" srcId="{5724728F-2991-471C-8F3E-8655C7CF9A7F}" destId="{4196D907-CD02-48D9-B960-003FFDCA0085}" srcOrd="12" destOrd="0" presId="urn:microsoft.com/office/officeart/2005/8/layout/cycle1"/>
    <dgm:cxn modelId="{10248246-BD3B-4B8F-BDA9-E460461DEF0D}" type="presParOf" srcId="{5724728F-2991-471C-8F3E-8655C7CF9A7F}" destId="{DC19223B-BA97-489C-9FA1-B5820447A0A9}" srcOrd="13" destOrd="0" presId="urn:microsoft.com/office/officeart/2005/8/layout/cycle1"/>
    <dgm:cxn modelId="{00D0C89E-6487-41AF-89B2-81BAA9A5C84F}" type="presParOf" srcId="{5724728F-2991-471C-8F3E-8655C7CF9A7F}" destId="{08A8699B-3356-4B7B-86C7-BB255DDA25C7}" srcOrd="14" destOrd="0" presId="urn:microsoft.com/office/officeart/2005/8/layout/cycle1"/>
    <dgm:cxn modelId="{D29E6E53-DEAA-4BFB-B123-63E1FF75FD6F}" type="presParOf" srcId="{5724728F-2991-471C-8F3E-8655C7CF9A7F}" destId="{2D917792-A278-42C5-B9B9-E43B90B8C142}" srcOrd="15" destOrd="0" presId="urn:microsoft.com/office/officeart/2005/8/layout/cycle1"/>
    <dgm:cxn modelId="{3B57DB96-2E5B-4213-A787-E8A2278EAFD6}" type="presParOf" srcId="{5724728F-2991-471C-8F3E-8655C7CF9A7F}" destId="{2959AFB0-C8CA-4E0A-A53F-203C7FFFBF0A}" srcOrd="16" destOrd="0" presId="urn:microsoft.com/office/officeart/2005/8/layout/cycle1"/>
    <dgm:cxn modelId="{158AA726-3AC7-4010-9712-5BAEB248432A}" type="presParOf" srcId="{5724728F-2991-471C-8F3E-8655C7CF9A7F}" destId="{DC6AC8A5-37C0-4DE2-B2BE-410A5BFD8F16}" srcOrd="17" destOrd="0" presId="urn:microsoft.com/office/officeart/2005/8/layout/cycle1"/>
    <dgm:cxn modelId="{B26CA4EE-4BC9-4191-B5B2-36A5BC6B8E36}" type="presParOf" srcId="{5724728F-2991-471C-8F3E-8655C7CF9A7F}" destId="{2F0D8111-9349-4F5B-A135-6790DAD0F65C}" srcOrd="18" destOrd="0" presId="urn:microsoft.com/office/officeart/2005/8/layout/cycle1"/>
    <dgm:cxn modelId="{595C038B-43A5-4A98-AE66-15D9DBF5B31D}" type="presParOf" srcId="{5724728F-2991-471C-8F3E-8655C7CF9A7F}" destId="{30E18A30-8612-448E-9FCD-A4E8B810D55A}" srcOrd="19" destOrd="0" presId="urn:microsoft.com/office/officeart/2005/8/layout/cycle1"/>
    <dgm:cxn modelId="{BF610E1A-0900-4705-B4F0-CE1097412200}" type="presParOf" srcId="{5724728F-2991-471C-8F3E-8655C7CF9A7F}" destId="{0D57837E-456A-47B7-93E4-3ADD42796347}" srcOrd="20" destOrd="0" presId="urn:microsoft.com/office/officeart/2005/8/layout/cycle1"/>
    <dgm:cxn modelId="{F3F9EE08-9C0A-4C6B-8FCF-3DD4D5C54EA5}" type="presParOf" srcId="{5724728F-2991-471C-8F3E-8655C7CF9A7F}" destId="{C5460AA0-0973-44A5-A62B-DF756CD6918B}" srcOrd="21" destOrd="0" presId="urn:microsoft.com/office/officeart/2005/8/layout/cycle1"/>
    <dgm:cxn modelId="{3F580655-AAE4-481A-9CC1-BA57ADFC94E0}" type="presParOf" srcId="{5724728F-2991-471C-8F3E-8655C7CF9A7F}" destId="{BDBA44C2-FAC8-4B97-8397-316AEF75DF95}" srcOrd="22" destOrd="0" presId="urn:microsoft.com/office/officeart/2005/8/layout/cycle1"/>
    <dgm:cxn modelId="{73B482F3-F71A-4FD7-A616-7DDA92FD620D}" type="presParOf" srcId="{5724728F-2991-471C-8F3E-8655C7CF9A7F}" destId="{D0D498C8-D633-4DAB-A232-DDE8FFFB5F15}" srcOrd="23" destOrd="0" presId="urn:microsoft.com/office/officeart/2005/8/layout/cycle1"/>
    <dgm:cxn modelId="{693DCCA3-1A60-470E-9305-ACE9436D7D66}" type="presParOf" srcId="{5724728F-2991-471C-8F3E-8655C7CF9A7F}" destId="{61420328-E97A-4C20-AE5E-71DE1D92F3FB}" srcOrd="24" destOrd="0" presId="urn:microsoft.com/office/officeart/2005/8/layout/cycle1"/>
    <dgm:cxn modelId="{AC83E537-3737-4607-9E91-3B2D6D918E56}" type="presParOf" srcId="{5724728F-2991-471C-8F3E-8655C7CF9A7F}" destId="{FEF4C21C-9519-4E2B-BDEC-2672152CB9DB}" srcOrd="25" destOrd="0" presId="urn:microsoft.com/office/officeart/2005/8/layout/cycle1"/>
    <dgm:cxn modelId="{D7C7010B-526E-40F5-8F10-EA5FA1F80DDB}" type="presParOf" srcId="{5724728F-2991-471C-8F3E-8655C7CF9A7F}" destId="{B33A4974-B8FC-4117-BB7D-FCAC4975A154}" srcOrd="26" destOrd="0" presId="urn:microsoft.com/office/officeart/2005/8/layout/cycle1"/>
    <dgm:cxn modelId="{9540D18B-5467-42B9-B5C9-24120F0A979C}" type="presParOf" srcId="{5724728F-2991-471C-8F3E-8655C7CF9A7F}" destId="{DFE84411-DF4A-4838-B368-37F058FB850F}" srcOrd="27" destOrd="0" presId="urn:microsoft.com/office/officeart/2005/8/layout/cycle1"/>
    <dgm:cxn modelId="{F42BF2CD-CC08-4C70-A3B6-F564BE67AE16}" type="presParOf" srcId="{5724728F-2991-471C-8F3E-8655C7CF9A7F}" destId="{D5A464D3-EE9A-402A-B509-F4AF5037A84F}" srcOrd="28" destOrd="0" presId="urn:microsoft.com/office/officeart/2005/8/layout/cycle1"/>
    <dgm:cxn modelId="{53D42206-A4BD-42C0-9DB7-B7ACCE718096}" type="presParOf" srcId="{5724728F-2991-471C-8F3E-8655C7CF9A7F}" destId="{967C72B1-2C49-4884-AC8E-83A3A1C4B2E6}" srcOrd="29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F15E8-7D55-4FC5-BDE6-E09F64430BA7}">
      <dsp:nvSpPr>
        <dsp:cNvPr id="0" name=""/>
        <dsp:cNvSpPr/>
      </dsp:nvSpPr>
      <dsp:spPr>
        <a:xfrm>
          <a:off x="4010541" y="45565"/>
          <a:ext cx="1020287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1. ¿Quién es el Emprendedor?</a:t>
          </a:r>
        </a:p>
      </dsp:txBody>
      <dsp:txXfrm>
        <a:off x="4010541" y="45565"/>
        <a:ext cx="1020287" cy="633125"/>
      </dsp:txXfrm>
    </dsp:sp>
    <dsp:sp modelId="{6E13AB0A-5338-43D8-B58F-44F7F16C54D7}">
      <dsp:nvSpPr>
        <dsp:cNvPr id="0" name=""/>
        <dsp:cNvSpPr/>
      </dsp:nvSpPr>
      <dsp:spPr>
        <a:xfrm>
          <a:off x="1472072" y="205463"/>
          <a:ext cx="4945817" cy="4945817"/>
        </a:xfrm>
        <a:prstGeom prst="circularArrow">
          <a:avLst>
            <a:gd name="adj1" fmla="val 2496"/>
            <a:gd name="adj2" fmla="val 151214"/>
            <a:gd name="adj3" fmla="val 18366867"/>
            <a:gd name="adj4" fmla="val 17859524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BD5EA-43B2-44FA-8803-BCC6A1A5A971}">
      <dsp:nvSpPr>
        <dsp:cNvPr id="0" name=""/>
        <dsp:cNvSpPr/>
      </dsp:nvSpPr>
      <dsp:spPr>
        <a:xfrm>
          <a:off x="5124022" y="851153"/>
          <a:ext cx="1116243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2. Presenta el problema y/o necesidad</a:t>
          </a:r>
          <a:r>
            <a:rPr lang="es-ES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Josefin Sans" panose="00000500000000000000" pitchFamily="2" charset="0"/>
            </a:rPr>
            <a:t>.</a:t>
          </a:r>
          <a:endParaRPr lang="es-ES" sz="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124022" y="851153"/>
        <a:ext cx="1116243" cy="633125"/>
      </dsp:txXfrm>
    </dsp:sp>
    <dsp:sp modelId="{C5A28ECE-5F95-4A81-8113-75DC5544F906}">
      <dsp:nvSpPr>
        <dsp:cNvPr id="0" name=""/>
        <dsp:cNvSpPr/>
      </dsp:nvSpPr>
      <dsp:spPr>
        <a:xfrm>
          <a:off x="1398151" y="216715"/>
          <a:ext cx="4945817" cy="4945817"/>
        </a:xfrm>
        <a:prstGeom prst="circularArrow">
          <a:avLst>
            <a:gd name="adj1" fmla="val 2496"/>
            <a:gd name="adj2" fmla="val 151214"/>
            <a:gd name="adj3" fmla="val 20733607"/>
            <a:gd name="adj4" fmla="val 1973899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7A358-330E-42F4-A39C-90DE533A7C5A}">
      <dsp:nvSpPr>
        <dsp:cNvPr id="0" name=""/>
        <dsp:cNvSpPr/>
      </dsp:nvSpPr>
      <dsp:spPr>
        <a:xfrm>
          <a:off x="5734259" y="2206493"/>
          <a:ext cx="895650" cy="507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3. ¿A quién le sirve lo que hago?</a:t>
          </a:r>
        </a:p>
      </dsp:txBody>
      <dsp:txXfrm>
        <a:off x="5734259" y="2206493"/>
        <a:ext cx="895650" cy="507481"/>
      </dsp:txXfrm>
    </dsp:sp>
    <dsp:sp modelId="{4CFAF20E-2CE9-410D-8C4F-99A003CC7A05}">
      <dsp:nvSpPr>
        <dsp:cNvPr id="0" name=""/>
        <dsp:cNvSpPr/>
      </dsp:nvSpPr>
      <dsp:spPr>
        <a:xfrm>
          <a:off x="1384342" y="-56839"/>
          <a:ext cx="4945817" cy="4945817"/>
        </a:xfrm>
        <a:prstGeom prst="circularArrow">
          <a:avLst>
            <a:gd name="adj1" fmla="val 2496"/>
            <a:gd name="adj2" fmla="val 151214"/>
            <a:gd name="adj3" fmla="val 1639053"/>
            <a:gd name="adj4" fmla="val 439009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00E5C-BD52-44F7-8383-C15FE2812038}">
      <dsp:nvSpPr>
        <dsp:cNvPr id="0" name=""/>
        <dsp:cNvSpPr/>
      </dsp:nvSpPr>
      <dsp:spPr>
        <a:xfrm>
          <a:off x="4881934" y="3579909"/>
          <a:ext cx="1600419" cy="67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4. Explica la solución presentando los resultados de la validación y tu Producto Mínimo Viable</a:t>
          </a:r>
        </a:p>
      </dsp:txBody>
      <dsp:txXfrm>
        <a:off x="4881934" y="3579909"/>
        <a:ext cx="1600419" cy="675310"/>
      </dsp:txXfrm>
    </dsp:sp>
    <dsp:sp modelId="{AC31F8FC-833D-4CF5-AD19-1119055ECA89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3257886"/>
            <a:gd name="adj4" fmla="val 2823936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9223B-BA97-489C-9FA1-B5820447A0A9}">
      <dsp:nvSpPr>
        <dsp:cNvPr id="0" name=""/>
        <dsp:cNvSpPr/>
      </dsp:nvSpPr>
      <dsp:spPr>
        <a:xfrm>
          <a:off x="3955192" y="4450752"/>
          <a:ext cx="1114743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5. Focaliza la atención en la oportunidad del negocio. </a:t>
          </a:r>
        </a:p>
      </dsp:txBody>
      <dsp:txXfrm>
        <a:off x="3955192" y="4450752"/>
        <a:ext cx="1114743" cy="633125"/>
      </dsp:txXfrm>
    </dsp:sp>
    <dsp:sp modelId="{08A8699B-3356-4B7B-86C7-BB255DDA25C7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5506753"/>
            <a:gd name="adj4" fmla="val 5156616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9AFB0-C8CA-4E0A-A53F-203C7FFFBF0A}">
      <dsp:nvSpPr>
        <dsp:cNvPr id="0" name=""/>
        <dsp:cNvSpPr/>
      </dsp:nvSpPr>
      <dsp:spPr>
        <a:xfrm>
          <a:off x="2519407" y="4450752"/>
          <a:ext cx="1094951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6. Presenta los momentos claves  de tu  idea de negocios. </a:t>
          </a:r>
        </a:p>
      </dsp:txBody>
      <dsp:txXfrm>
        <a:off x="2519407" y="4450752"/>
        <a:ext cx="1094951" cy="633125"/>
      </dsp:txXfrm>
    </dsp:sp>
    <dsp:sp modelId="{DC6AC8A5-37C0-4DE2-B2BE-410A5BFD8F16}">
      <dsp:nvSpPr>
        <dsp:cNvPr id="0" name=""/>
        <dsp:cNvSpPr/>
      </dsp:nvSpPr>
      <dsp:spPr>
        <a:xfrm>
          <a:off x="808780" y="167782"/>
          <a:ext cx="5961885" cy="4749715"/>
        </a:xfrm>
        <a:prstGeom prst="circularArrow">
          <a:avLst>
            <a:gd name="adj1" fmla="val 2496"/>
            <a:gd name="adj2" fmla="val 151214"/>
            <a:gd name="adj3" fmla="val 7870041"/>
            <a:gd name="adj4" fmla="val 737355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18A30-8612-448E-9FCD-A4E8B810D55A}">
      <dsp:nvSpPr>
        <dsp:cNvPr id="0" name=""/>
        <dsp:cNvSpPr/>
      </dsp:nvSpPr>
      <dsp:spPr>
        <a:xfrm>
          <a:off x="1271252" y="3601002"/>
          <a:ext cx="1252099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7. Presente el análisis realizado a la competencia.</a:t>
          </a:r>
        </a:p>
      </dsp:txBody>
      <dsp:txXfrm>
        <a:off x="1271252" y="3601002"/>
        <a:ext cx="1252099" cy="633125"/>
      </dsp:txXfrm>
    </dsp:sp>
    <dsp:sp modelId="{0D57837E-456A-47B7-93E4-3ADD42796347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10182118"/>
            <a:gd name="adj4" fmla="val 9185927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A44C2-FAC8-4B97-8397-316AEF75DF95}">
      <dsp:nvSpPr>
        <dsp:cNvPr id="0" name=""/>
        <dsp:cNvSpPr/>
      </dsp:nvSpPr>
      <dsp:spPr>
        <a:xfrm>
          <a:off x="769693" y="2226077"/>
          <a:ext cx="1361738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8. Describe la estrategia de mercado y canales de ventas.</a:t>
          </a:r>
        </a:p>
      </dsp:txBody>
      <dsp:txXfrm>
        <a:off x="769693" y="2226077"/>
        <a:ext cx="1361738" cy="633125"/>
      </dsp:txXfrm>
    </dsp:sp>
    <dsp:sp modelId="{D0D498C8-D633-4DAB-A232-DDE8FFFB5F15}">
      <dsp:nvSpPr>
        <dsp:cNvPr id="0" name=""/>
        <dsp:cNvSpPr/>
      </dsp:nvSpPr>
      <dsp:spPr>
        <a:xfrm>
          <a:off x="1316814" y="69731"/>
          <a:ext cx="4945817" cy="4945817"/>
        </a:xfrm>
        <a:prstGeom prst="circularArrow">
          <a:avLst>
            <a:gd name="adj1" fmla="val 2496"/>
            <a:gd name="adj2" fmla="val 151214"/>
            <a:gd name="adj3" fmla="val 12262859"/>
            <a:gd name="adj4" fmla="val 11266668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4C21C-9519-4E2B-BDEC-2672152CB9DB}">
      <dsp:nvSpPr>
        <dsp:cNvPr id="0" name=""/>
        <dsp:cNvSpPr/>
      </dsp:nvSpPr>
      <dsp:spPr>
        <a:xfrm>
          <a:off x="1217541" y="851153"/>
          <a:ext cx="1359522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B050"/>
              </a:solidFill>
              <a:latin typeface="Josefin Sans" panose="00000500000000000000" pitchFamily="2" charset="0"/>
              <a:ea typeface="+mn-ea"/>
              <a:cs typeface="+mn-cs"/>
            </a:rPr>
            <a:t>9. Presente las cifras de tu modelo de negocio . </a:t>
          </a:r>
        </a:p>
      </dsp:txBody>
      <dsp:txXfrm>
        <a:off x="1217541" y="851153"/>
        <a:ext cx="1359522" cy="633125"/>
      </dsp:txXfrm>
    </dsp:sp>
    <dsp:sp modelId="{B33A4974-B8FC-4117-BB7D-FCAC4975A154}">
      <dsp:nvSpPr>
        <dsp:cNvPr id="0" name=""/>
        <dsp:cNvSpPr/>
      </dsp:nvSpPr>
      <dsp:spPr>
        <a:xfrm>
          <a:off x="1320547" y="66158"/>
          <a:ext cx="4945817" cy="4945817"/>
        </a:xfrm>
        <a:prstGeom prst="circularArrow">
          <a:avLst>
            <a:gd name="adj1" fmla="val 2496"/>
            <a:gd name="adj2" fmla="val 151214"/>
            <a:gd name="adj3" fmla="val 14209298"/>
            <a:gd name="adj4" fmla="val 13571152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464D3-EE9A-402A-B509-F4AF5037A84F}">
      <dsp:nvSpPr>
        <dsp:cNvPr id="0" name=""/>
        <dsp:cNvSpPr/>
      </dsp:nvSpPr>
      <dsp:spPr>
        <a:xfrm>
          <a:off x="2600683" y="0"/>
          <a:ext cx="933428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FFFFFF">
                  <a:lumMod val="50000"/>
                </a:srgbClr>
              </a:solidFill>
              <a:latin typeface="Josefin Sans" panose="00000500000000000000" pitchFamily="2" charset="0"/>
              <a:ea typeface="+mn-ea"/>
              <a:cs typeface="+mn-cs"/>
            </a:rPr>
            <a:t>10. Cuenta tu historia y la de tu equipo</a:t>
          </a:r>
        </a:p>
      </dsp:txBody>
      <dsp:txXfrm>
        <a:off x="2600683" y="0"/>
        <a:ext cx="933428" cy="633125"/>
      </dsp:txXfrm>
    </dsp:sp>
    <dsp:sp modelId="{967C72B1-2C49-4884-AC8E-83A3A1C4B2E6}">
      <dsp:nvSpPr>
        <dsp:cNvPr id="0" name=""/>
        <dsp:cNvSpPr/>
      </dsp:nvSpPr>
      <dsp:spPr>
        <a:xfrm>
          <a:off x="1118318" y="81859"/>
          <a:ext cx="4945817" cy="4945817"/>
        </a:xfrm>
        <a:prstGeom prst="circularArrow">
          <a:avLst>
            <a:gd name="adj1" fmla="val 2496"/>
            <a:gd name="adj2" fmla="val 151214"/>
            <a:gd name="adj3" fmla="val 16668381"/>
            <a:gd name="adj4" fmla="val 16116054"/>
            <a:gd name="adj5" fmla="val 291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7C2B9-A3C0-3F49-A929-98DE2EB18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F98F89-F358-BEE2-10AC-1B5608F7D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6A6F2-5E1E-58BE-DD4E-A89A5CF2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3BCDCC-EF4B-132E-164D-50C81B33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B7D1C1-7DF2-B065-8B70-373D80F1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06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4BF04-BC84-4D95-F344-B6ADE462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19B0E-9FCF-AD24-9A86-EECFA760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1E90CA-CCF7-AF7B-8E42-916254FE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F6EE68-D918-D87D-E9C7-28201255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B4364-A7EF-9E5A-3C07-3BD625CA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309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7F4E5-65E9-4DCB-5813-11D40A68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E6E644-237F-6D49-DA57-B57B3BBB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545FA-D9BC-F6CC-01F2-EC4EB678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AAFA57-92E9-D029-BF63-94D6919A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E931FF-AEDD-4B5A-D478-3DB3B8B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173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69D6E-AEC6-A2B8-B59E-5DB0F9B5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1608B-0384-3E7A-B8D6-2A52325D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273D2B-F3A8-FB58-18D9-F5068BA48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E4F976-11CB-79BF-214C-0071237D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003339-B8E7-9D71-E950-B547A33D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FD40A3-05F2-392C-6923-BCDE575F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945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86914-9EDC-AEAF-D031-1D560DD8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41C626-84CD-BC0D-9C35-04284B71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89DC2F-1C18-A076-BE46-192B8920A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A5F390-9FC1-3488-3B83-0CD0AF245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E4E63D-621C-22C6-777F-BA448BF22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4BDE20-7B21-F69C-BC54-4122C07D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0FEE19-0D94-58A1-0405-1CF1BFC4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19D5D2-F330-EBC3-9161-09DA3294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31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F5F5C-02FC-11D4-8619-EDFD4611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DB56A3-D667-2BA7-549C-BF7B273D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D4DCD2-A3C9-A669-3A1D-20AD0575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93343B-74E7-29AE-F2EE-E7DEE846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957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5C7A11-6C65-84A8-169A-96059DCD2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50429D-940D-5BE3-3558-B664A910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81CCED-9D8B-B6CC-C55F-7F250E9D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123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D89B-56E4-0058-6FA9-2BE3A908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DAFF0-CC4F-5A73-4B4F-048CF75F7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9E8767-7B68-06B7-0DED-1C56B433C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84DEBB-CF09-441D-DC11-35244669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8DB75-3793-677F-F3DE-83FF47A9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237BB6-728D-09F0-A5B4-40B5B31A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034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6C7DB-3D55-FA7A-DD63-0B4868D7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B65EFB-08C9-C03D-6381-FCCBD8859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B21E7A-9F60-4D07-D021-A54EFDCBB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CF53C6-1A6E-153D-8DA1-96D7BE8D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15E61-6DD1-8BF3-2732-6510F0E5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7CDA1B-EEA6-EC90-0F9A-D29C3738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801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C74E8-8D50-A408-EB11-5EB1690F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D300A0-8994-FBA8-1212-854C4FA0A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F54AB8-58AA-7886-0200-97BC8602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71A075-283B-B5BD-7DB9-CF55CEAA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373C84-EBC4-54AD-FAA1-D0081C7E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544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46E24A-D0F6-B6A5-B764-D45640C34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FDEA98-3C82-6DE3-5415-5E6D0EB26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A1B1C-6561-4BDB-50C3-CBEEA178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215247-C8B3-3B38-CF02-7904500C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D74D78-1B95-A6CB-71EF-55CCFBDC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188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43DB46-ED05-FB6B-F5E5-24E3CBCC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9A94C8-1E43-77A1-95CB-5765E3F9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322E30-0248-4874-9183-C8457781F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2FF9A-23E1-4EAD-A118-A77F41DDE3B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4CCF7-DE44-E698-53B0-0E7771116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3D9EF5-7956-D282-C76A-77B893F1F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C3455-A4BE-4E9F-86FE-19AEF74B23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83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fna&amp;_nc_gid=5fvWnVENmSdn6b8jZzT3Qg&amp;_nc_ss=7d2a8&amp;oh=00_AQPBb8VdcMThVQXcUI4zDrsYPFhVSe7lpWlUhFPRIKKd_A&amp;oe=6AE5118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6EF150D-52E9-3D6F-B04A-FBAFEC345281}"/>
              </a:ext>
            </a:extLst>
          </p:cNvPr>
          <p:cNvGrpSpPr/>
          <p:nvPr/>
        </p:nvGrpSpPr>
        <p:grpSpPr>
          <a:xfrm>
            <a:off x="1701296" y="886359"/>
            <a:ext cx="7346403" cy="5085281"/>
            <a:chOff x="1507958" y="744621"/>
            <a:chExt cx="6096000" cy="4064000"/>
          </a:xfrm>
        </p:grpSpPr>
        <p:graphicFrame>
          <p:nvGraphicFramePr>
            <p:cNvPr id="5" name="Diagrama 4">
              <a:extLst>
                <a:ext uri="{FF2B5EF4-FFF2-40B4-BE49-F238E27FC236}">
                  <a16:creationId xmlns:a16="http://schemas.microsoft.com/office/drawing/2014/main" id="{3341756E-7597-16EF-59CC-8A10C90D31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2481403"/>
                </p:ext>
              </p:extLst>
            </p:nvPr>
          </p:nvGraphicFramePr>
          <p:xfrm>
            <a:off x="1507958" y="744621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6" name="Picture 2" descr="$4.800 millones del Fondo Emprender del SENA para promover emprendimiento -  hoyennoticia.com">
              <a:extLst>
                <a:ext uri="{FF2B5EF4-FFF2-40B4-BE49-F238E27FC236}">
                  <a16:creationId xmlns:a16="http://schemas.microsoft.com/office/drawing/2014/main" id="{A570B468-CFBB-3D68-1762-75933DA3FE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058"/>
            <a:stretch/>
          </p:blipFill>
          <p:spPr bwMode="auto">
            <a:xfrm>
              <a:off x="3776662" y="1840959"/>
              <a:ext cx="1590676" cy="177792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Google Shape;184;gd04e5b107f_0_20">
            <a:extLst>
              <a:ext uri="{FF2B5EF4-FFF2-40B4-BE49-F238E27FC236}">
                <a16:creationId xmlns:a16="http://schemas.microsoft.com/office/drawing/2014/main" id="{B2F39D1A-8EF4-CC0A-65FF-F80BD685C6E0}"/>
              </a:ext>
            </a:extLst>
          </p:cNvPr>
          <p:cNvSpPr txBox="1"/>
          <p:nvPr/>
        </p:nvSpPr>
        <p:spPr>
          <a:xfrm>
            <a:off x="1469588" y="173192"/>
            <a:ext cx="780982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400"/>
            </a:pPr>
            <a:r>
              <a:rPr lang="es-ES" sz="2400" b="1" dirty="0">
                <a:solidFill>
                  <a:srgbClr val="00B050"/>
                </a:solidFill>
                <a:latin typeface="Josefin Sans"/>
                <a:ea typeface="Josefin Sans"/>
                <a:cs typeface="Josefin Sans"/>
                <a:sym typeface="Josefin Sans"/>
              </a:rPr>
              <a:t>PRESENTACIÓN FINAL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B8BB5D-87DF-85A1-8937-B9A52CD89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85A88E-A6BC-59DA-951D-BBF16001A2BB}"/>
              </a:ext>
            </a:extLst>
          </p:cNvPr>
          <p:cNvSpPr txBox="1"/>
          <p:nvPr/>
        </p:nvSpPr>
        <p:spPr>
          <a:xfrm>
            <a:off x="427354" y="249296"/>
            <a:ext cx="66049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 1. “Quien soy yo”</a:t>
            </a:r>
          </a:p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(Presentación del Emprendedor)</a:t>
            </a:r>
            <a:endParaRPr lang="es-CO" sz="24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B7E99D-9B61-D028-C712-7A62D7F4173C}"/>
              </a:ext>
            </a:extLst>
          </p:cNvPr>
          <p:cNvSpPr txBox="1"/>
          <p:nvPr/>
        </p:nvSpPr>
        <p:spPr>
          <a:xfrm>
            <a:off x="874530" y="1401866"/>
            <a:ext cx="433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800" dirty="0"/>
          </a:p>
          <a:p>
            <a:endParaRPr lang="es-CO" sz="180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4411E81-58DC-4BAF-A92E-A8CC972979F6}"/>
              </a:ext>
            </a:extLst>
          </p:cNvPr>
          <p:cNvCxnSpPr>
            <a:cxnSpLocks/>
          </p:cNvCxnSpPr>
          <p:nvPr/>
        </p:nvCxnSpPr>
        <p:spPr>
          <a:xfrm>
            <a:off x="427354" y="1269477"/>
            <a:ext cx="3028205" cy="0"/>
          </a:xfrm>
          <a:prstGeom prst="line">
            <a:avLst/>
          </a:prstGeom>
          <a:ln w="12700" cmpd="sng">
            <a:solidFill>
              <a:srgbClr val="FFB6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28E093B-7D1A-CF30-2129-9B73858E5B70}"/>
              </a:ext>
            </a:extLst>
          </p:cNvPr>
          <p:cNvSpPr txBox="1"/>
          <p:nvPr/>
        </p:nvSpPr>
        <p:spPr>
          <a:xfrm>
            <a:off x="427354" y="1460208"/>
            <a:ext cx="6356477" cy="518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Diego Alfonso Tapia Salazar</a:t>
            </a:r>
          </a:p>
          <a:p>
            <a:endParaRPr lang="es-CO" sz="1600" dirty="0"/>
          </a:p>
          <a:p>
            <a:r>
              <a:rPr lang="es-CO" sz="1600" dirty="0"/>
              <a:t>• </a:t>
            </a:r>
            <a:r>
              <a:rPr lang="es-CO" sz="1600" b="1" dirty="0"/>
              <a:t>Formación:</a:t>
            </a:r>
            <a:r>
              <a:rPr lang="es-CO" sz="1600" dirty="0"/>
              <a:t> Tecnólogo en formación ADSO (SENA) | Estudiante de Ingeniería de Sistemas (Universidad EAN)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Trayectoria:</a:t>
            </a:r>
            <a:r>
              <a:rPr lang="es-CO" sz="1600" dirty="0"/>
              <a:t> Seguridad de la Información, Continuidad del Negocio, Análisis de Riesgos y Gobernanza de TI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La Oportunidad:</a:t>
            </a:r>
            <a:r>
              <a:rPr lang="es-CO" sz="1600" dirty="0"/>
              <a:t> La información académica existe, pero hoy no se utiliza a tiempo para anticiparse y prevenir la deserción estudiantil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Mi Propósito:</a:t>
            </a:r>
            <a:r>
              <a:rPr lang="es-CO" sz="1600" dirty="0"/>
              <a:t> </a:t>
            </a:r>
            <a:r>
              <a:rPr lang="es-CO" sz="1600" b="1" dirty="0" err="1"/>
              <a:t>TalentLab</a:t>
            </a:r>
            <a:r>
              <a:rPr lang="es-CO" sz="1600" dirty="0"/>
              <a:t>, una plataforma confiable y segura que transforma los datos en alertas tempranas de acompañamiento y preparación laboral.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8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6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6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1F927EC-5919-905A-EB8F-C00E75B7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No hay ninguna descripción de la foto disponible.">
            <a:extLst>
              <a:ext uri="{FF2B5EF4-FFF2-40B4-BE49-F238E27FC236}">
                <a16:creationId xmlns:a16="http://schemas.microsoft.com/office/drawing/2014/main" id="{1FEF09E1-F959-69E8-5FE3-A7FA46E0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112" y="1649398"/>
            <a:ext cx="3621444" cy="362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25591E9-1C99-1E22-508C-2ED85BB92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F39A796-D779-1B59-61DD-A2AA39B273A9}"/>
              </a:ext>
            </a:extLst>
          </p:cNvPr>
          <p:cNvSpPr txBox="1"/>
          <p:nvPr/>
        </p:nvSpPr>
        <p:spPr>
          <a:xfrm>
            <a:off x="427354" y="249296"/>
            <a:ext cx="66049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 2. “Poseemos problemas”</a:t>
            </a:r>
          </a:p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(Problema o Necesidad)</a:t>
            </a:r>
            <a:endParaRPr lang="es-CO" sz="24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AB4EC6-CAD9-437C-6A78-6CC3775AC2CD}"/>
              </a:ext>
            </a:extLst>
          </p:cNvPr>
          <p:cNvSpPr txBox="1"/>
          <p:nvPr/>
        </p:nvSpPr>
        <p:spPr>
          <a:xfrm>
            <a:off x="874530" y="1401866"/>
            <a:ext cx="433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800" dirty="0"/>
          </a:p>
          <a:p>
            <a:endParaRPr lang="es-CO" sz="180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FD45577-81C7-91C9-BE7F-81B86DAE450F}"/>
              </a:ext>
            </a:extLst>
          </p:cNvPr>
          <p:cNvCxnSpPr>
            <a:cxnSpLocks/>
          </p:cNvCxnSpPr>
          <p:nvPr/>
        </p:nvCxnSpPr>
        <p:spPr>
          <a:xfrm>
            <a:off x="427354" y="1269477"/>
            <a:ext cx="3028205" cy="0"/>
          </a:xfrm>
          <a:prstGeom prst="line">
            <a:avLst/>
          </a:prstGeom>
          <a:ln w="12700" cmpd="sng">
            <a:solidFill>
              <a:srgbClr val="FFB6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1ADAF66-BBF4-2551-FEBA-8696230E3334}"/>
              </a:ext>
            </a:extLst>
          </p:cNvPr>
          <p:cNvSpPr txBox="1"/>
          <p:nvPr/>
        </p:nvSpPr>
        <p:spPr>
          <a:xfrm>
            <a:off x="427354" y="1460208"/>
            <a:ext cx="6122736" cy="589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¿Sabían que en Colombia más del 33% de los estudiantes técnicos y tecnológicos desertan antes de graduarse?</a:t>
            </a:r>
            <a:r>
              <a:rPr lang="es-CO" dirty="0"/>
              <a:t> </a:t>
            </a:r>
          </a:p>
          <a:p>
            <a:endParaRPr lang="es-CO" dirty="0"/>
          </a:p>
          <a:p>
            <a:r>
              <a:rPr lang="es-CO" dirty="0"/>
              <a:t>• </a:t>
            </a:r>
            <a:r>
              <a:rPr lang="es-CO" b="1" dirty="0"/>
              <a:t>Deserción Silenciosa:</a:t>
            </a:r>
            <a:r>
              <a:rPr lang="es-CO" dirty="0"/>
              <a:t> Detección tardía; las alertas llegan cuando el estudiante ya abandonó el aula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Brecha de Empleabilidad :</a:t>
            </a:r>
            <a:r>
              <a:rPr lang="es-CO" dirty="0"/>
              <a:t> Inseguridad y falta de preparación práctica para entrevistas técnicas y habilidades blandas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Desconexión con Egresados:</a:t>
            </a:r>
            <a:r>
              <a:rPr lang="es-CO" dirty="0"/>
              <a:t> El capital social y la experiencia de los graduados están desarticulados y desaprovechados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Limitación Actual:</a:t>
            </a:r>
            <a:r>
              <a:rPr lang="es-CO" dirty="0"/>
              <a:t> Los sistemas LMS tradicionales (Moodle, Q10) son meramente reactivos y de registro de notas, sin analítica predictiva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8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6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6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</p:txBody>
      </p:sp>
      <p:pic>
        <p:nvPicPr>
          <p:cNvPr id="9" name="Picture 2" descr="Persona Con Dificultad Y Preguntas En Estudios">
            <a:extLst>
              <a:ext uri="{FF2B5EF4-FFF2-40B4-BE49-F238E27FC236}">
                <a16:creationId xmlns:a16="http://schemas.microsoft.com/office/drawing/2014/main" id="{ED239977-F1E7-EB39-9979-DF6ECDDD0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372" y="268331"/>
            <a:ext cx="4222029" cy="632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38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00BEBD4-BD45-1F5F-58B1-C7EC10C63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E565427-C35C-C4BC-80D7-BDEEBD856B23}"/>
              </a:ext>
            </a:extLst>
          </p:cNvPr>
          <p:cNvSpPr txBox="1"/>
          <p:nvPr/>
        </p:nvSpPr>
        <p:spPr>
          <a:xfrm>
            <a:off x="427354" y="1460208"/>
            <a:ext cx="5310717" cy="6035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CO" sz="1600" b="1" dirty="0"/>
              <a:t>El Protagonista (Cliente B2B Decisor):</a:t>
            </a:r>
            <a:r>
              <a:rPr lang="es-CO" sz="1600" dirty="0"/>
              <a:t> Directores de Bienestar Institucional, Decanos y Rectores de instituciones técnicas, tecnológicas e IES intermedias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El Impacto en el Cliente:</a:t>
            </a:r>
            <a:r>
              <a:rPr lang="es-CO" sz="1600" dirty="0"/>
              <a:t> Cada deserción representa una pérdida de matrícula de </a:t>
            </a:r>
            <a:r>
              <a:rPr lang="es-CO" sz="1600" b="1" dirty="0"/>
              <a:t>$3M a $6M COP/año</a:t>
            </a:r>
            <a:r>
              <a:rPr lang="es-CO" sz="1600" dirty="0"/>
              <a:t> y pone en riesgo la acreditación de calidad ante el MEN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Usuarios Finales (Beneficiarios B2C):</a:t>
            </a:r>
            <a:br>
              <a:rPr lang="es-CO" sz="1600" dirty="0"/>
            </a:br>
            <a:r>
              <a:rPr lang="es-CO" sz="1600" dirty="0"/>
              <a:t>    – </a:t>
            </a:r>
            <a:r>
              <a:rPr lang="es-CO" sz="1600" i="1" dirty="0"/>
              <a:t>Estudiantes activos (17 a 26 años):</a:t>
            </a:r>
            <a:r>
              <a:rPr lang="es-CO" sz="1600" dirty="0"/>
              <a:t> Reciben alertas preventivas y entrenamiento en entrevistas laborales.</a:t>
            </a:r>
            <a:br>
              <a:rPr lang="es-CO" sz="1600" dirty="0"/>
            </a:br>
            <a:r>
              <a:rPr lang="es-CO" sz="1600" dirty="0"/>
              <a:t>    – </a:t>
            </a:r>
            <a:r>
              <a:rPr lang="es-CO" sz="1600" i="1" dirty="0"/>
              <a:t>Egresados:</a:t>
            </a:r>
            <a:r>
              <a:rPr lang="es-CO" sz="1600" dirty="0"/>
              <a:t> Red activa de mentoría y capital social institucional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Early </a:t>
            </a:r>
            <a:r>
              <a:rPr lang="es-CO" sz="1600" b="1" dirty="0" err="1"/>
              <a:t>Adopters</a:t>
            </a:r>
            <a:r>
              <a:rPr lang="es-CO" sz="1600" b="1" dirty="0"/>
              <a:t>:</a:t>
            </a:r>
            <a:r>
              <a:rPr lang="es-CO" sz="1600" dirty="0"/>
              <a:t> 80 instituciones privadas en Bogotá y Cundinamarca con deserción crítica en los primeros 3 semestres y apertura a soluciones SaaS.</a:t>
            </a: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8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12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6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6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</p:txBody>
      </p:sp>
      <p:pic>
        <p:nvPicPr>
          <p:cNvPr id="6" name="Picture 2" descr="Grupo De Personas De Pie Junto Al Cuerpo De Agua">
            <a:extLst>
              <a:ext uri="{FF2B5EF4-FFF2-40B4-BE49-F238E27FC236}">
                <a16:creationId xmlns:a16="http://schemas.microsoft.com/office/drawing/2014/main" id="{693E4186-FD37-0EC8-F85D-62F35F6B7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91994"/>
            <a:ext cx="5184396" cy="335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7587EB4-03EB-6640-8BB4-DCAE473343FD}"/>
              </a:ext>
            </a:extLst>
          </p:cNvPr>
          <p:cNvSpPr txBox="1"/>
          <p:nvPr/>
        </p:nvSpPr>
        <p:spPr>
          <a:xfrm>
            <a:off x="1017165" y="445379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rgbClr val="00B050"/>
                </a:solidFill>
                <a:latin typeface="Josefin Sans" panose="00000500000000000000" pitchFamily="2" charset="0"/>
              </a:rPr>
              <a:t> </a:t>
            </a:r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3. “A quien le sirve lo que hago”</a:t>
            </a:r>
          </a:p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Cuente acerca del protagonista</a:t>
            </a:r>
          </a:p>
        </p:txBody>
      </p:sp>
    </p:spTree>
    <p:extLst>
      <p:ext uri="{BB962C8B-B14F-4D97-AF65-F5344CB8AC3E}">
        <p14:creationId xmlns:p14="http://schemas.microsoft.com/office/powerpoint/2010/main" val="333777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22A52BD-4F73-81CD-E71B-95167581E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96848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1A26676-B25E-6AE6-4EFC-430FA882C922}"/>
              </a:ext>
            </a:extLst>
          </p:cNvPr>
          <p:cNvSpPr txBox="1"/>
          <p:nvPr/>
        </p:nvSpPr>
        <p:spPr>
          <a:xfrm>
            <a:off x="576229" y="296848"/>
            <a:ext cx="609460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>
                <a:solidFill>
                  <a:srgbClr val="00B050"/>
                </a:solidFill>
                <a:latin typeface="Josefin Sans" panose="00000500000000000000" pitchFamily="2" charset="0"/>
              </a:rPr>
              <a:t>4. “Se le tiene”</a:t>
            </a:r>
          </a:p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(Solución - Propuesta de Valor)</a:t>
            </a:r>
            <a:endParaRPr lang="es-CO" dirty="0">
              <a:solidFill>
                <a:srgbClr val="00B05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67FA2C-2F62-407B-5362-4D824CD617B9}"/>
              </a:ext>
            </a:extLst>
          </p:cNvPr>
          <p:cNvSpPr txBox="1"/>
          <p:nvPr/>
        </p:nvSpPr>
        <p:spPr>
          <a:xfrm>
            <a:off x="482922" y="1315309"/>
            <a:ext cx="65336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"Detecta. Prepara. Conecta." — La Solución Integral de </a:t>
            </a:r>
            <a:r>
              <a:rPr lang="es-CO" b="1" dirty="0" err="1"/>
              <a:t>TalentLab</a:t>
            </a:r>
            <a:r>
              <a:rPr lang="es-CO" b="1" dirty="0"/>
              <a:t>”</a:t>
            </a:r>
          </a:p>
          <a:p>
            <a:endParaRPr lang="es-CO" b="1" dirty="0"/>
          </a:p>
          <a:p>
            <a:r>
              <a:rPr lang="es-CO" dirty="0"/>
              <a:t>• </a:t>
            </a:r>
            <a:r>
              <a:rPr lang="es-CO" b="1" dirty="0"/>
              <a:t>Semáforo Predictivo:</a:t>
            </a:r>
            <a:r>
              <a:rPr lang="es-CO" dirty="0"/>
              <a:t> Machine </a:t>
            </a:r>
            <a:r>
              <a:rPr lang="es-CO" dirty="0" err="1"/>
              <a:t>Learning</a:t>
            </a:r>
            <a:r>
              <a:rPr lang="es-CO" dirty="0"/>
              <a:t> para alertar riesgo de deserción antes del abandono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Simulador con IA:</a:t>
            </a:r>
            <a:r>
              <a:rPr lang="es-CO" dirty="0"/>
              <a:t> Entrenamiento de entrevistas técnicas y habilidades blandas con </a:t>
            </a:r>
            <a:r>
              <a:rPr lang="es-CO" dirty="0" err="1"/>
              <a:t>feedback</a:t>
            </a:r>
            <a:r>
              <a:rPr lang="es-CO" dirty="0"/>
              <a:t> instantáneo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Red de Mentorías:</a:t>
            </a:r>
            <a:r>
              <a:rPr lang="es-CO" dirty="0"/>
              <a:t> Conexión algorítmica entre estudiantes activos y egresados afines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Diferenciador Clave:</a:t>
            </a:r>
            <a:r>
              <a:rPr lang="es-CO" dirty="0"/>
              <a:t> Solución 3 en 1, adaptada a Colombia y de ultra bajo costo en la nube (&lt;$0.05 USD/alumno)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El Factor que Enamora:</a:t>
            </a:r>
            <a:r>
              <a:rPr lang="es-CO" dirty="0"/>
              <a:t> Salva matrículas a tiempo y prepara al estudiante para su primer empleo.</a:t>
            </a:r>
          </a:p>
          <a:p>
            <a:endParaRPr lang="es-CO" b="1" dirty="0"/>
          </a:p>
        </p:txBody>
      </p:sp>
      <p:pic>
        <p:nvPicPr>
          <p:cNvPr id="9" name="Picture 2" descr="Mujer Dibuja Una Bombilla En Pizarra Blanca">
            <a:extLst>
              <a:ext uri="{FF2B5EF4-FFF2-40B4-BE49-F238E27FC236}">
                <a16:creationId xmlns:a16="http://schemas.microsoft.com/office/drawing/2014/main" id="{A07239EC-C065-52DF-70A3-A9CB5A40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898" y="973123"/>
            <a:ext cx="355432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86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28E37EB-21E5-6EF6-5FBA-3DBF718F2559}"/>
              </a:ext>
            </a:extLst>
          </p:cNvPr>
          <p:cNvSpPr txBox="1"/>
          <p:nvPr/>
        </p:nvSpPr>
        <p:spPr>
          <a:xfrm>
            <a:off x="689995" y="631791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 5. “Donde cabe uno caben todos”</a:t>
            </a:r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    (Oportunidad Comercial)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A7EA467-FD3E-BD54-9107-D59C1546C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9C1B9D-21A6-BF3B-9588-49A38869AA0F}"/>
              </a:ext>
            </a:extLst>
          </p:cNvPr>
          <p:cNvSpPr txBox="1"/>
          <p:nvPr/>
        </p:nvSpPr>
        <p:spPr>
          <a:xfrm>
            <a:off x="579744" y="1492347"/>
            <a:ext cx="551625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Oportunidad de Mercado: De lo General a lo Particular</a:t>
            </a:r>
          </a:p>
          <a:p>
            <a:endParaRPr lang="es-CO" dirty="0"/>
          </a:p>
          <a:p>
            <a:r>
              <a:rPr lang="es-CO" dirty="0"/>
              <a:t>• </a:t>
            </a:r>
            <a:r>
              <a:rPr lang="es-CO" b="1" dirty="0"/>
              <a:t>Sector </a:t>
            </a:r>
            <a:r>
              <a:rPr lang="es-CO" b="1" dirty="0" err="1"/>
              <a:t>EdTech</a:t>
            </a:r>
            <a:r>
              <a:rPr lang="es-CO" b="1" dirty="0"/>
              <a:t> en Crecimiento:</a:t>
            </a:r>
            <a:r>
              <a:rPr lang="es-CO" dirty="0"/>
              <a:t> Crecimiento anual sostenido del </a:t>
            </a:r>
            <a:r>
              <a:rPr lang="es-CO" b="1" dirty="0"/>
              <a:t>15.2% (CAGR)</a:t>
            </a:r>
            <a:r>
              <a:rPr lang="es-CO" dirty="0"/>
              <a:t> en Latinoamérica impulsado por analítica e IA.</a:t>
            </a:r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TAM (Mercado Total):</a:t>
            </a:r>
            <a:r>
              <a:rPr lang="es-CO" dirty="0"/>
              <a:t> +300 instituciones de educación técnica y superior en Colombia (~$2.500M COP/año).</a:t>
            </a:r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SAM (Mercado Disponible):</a:t>
            </a:r>
            <a:r>
              <a:rPr lang="es-CO" dirty="0"/>
              <a:t> 180 instituciones técnicas y tecnológicas del segmento privado intermedio.</a:t>
            </a:r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SOM (Mercado Objetivo 5 Años):</a:t>
            </a:r>
            <a:r>
              <a:rPr lang="es-CO" dirty="0"/>
              <a:t> </a:t>
            </a:r>
            <a:r>
              <a:rPr lang="es-CO" b="1" dirty="0"/>
              <a:t>80 instituciones foco</a:t>
            </a:r>
            <a:r>
              <a:rPr lang="es-CO" dirty="0"/>
              <a:t> en Bogotá y Región Andina (Meta: </a:t>
            </a:r>
            <a:r>
              <a:rPr lang="es-CO" b="1" dirty="0"/>
              <a:t>68 licencias activas al Año 5</a:t>
            </a:r>
            <a:r>
              <a:rPr lang="es-CO" dirty="0"/>
              <a:t>).</a:t>
            </a:r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Validación Real de Campo:</a:t>
            </a:r>
            <a:r>
              <a:rPr lang="es-CO" dirty="0"/>
              <a:t> Encuesta a 100 actores clave: </a:t>
            </a:r>
            <a:r>
              <a:rPr lang="es-CO" b="1" dirty="0"/>
              <a:t>86%</a:t>
            </a:r>
            <a:r>
              <a:rPr lang="es-CO" dirty="0"/>
              <a:t> demanda simulador con IA y </a:t>
            </a:r>
            <a:r>
              <a:rPr lang="es-CO" b="1" dirty="0"/>
              <a:t>78%</a:t>
            </a:r>
            <a:r>
              <a:rPr lang="es-CO" dirty="0"/>
              <a:t> de directivos pagaría por el sistema de alertas tempranas.</a:t>
            </a:r>
          </a:p>
          <a:p>
            <a:r>
              <a:rPr lang="es-CO" sz="16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</p:txBody>
      </p:sp>
      <p:pic>
        <p:nvPicPr>
          <p:cNvPr id="8" name="Picture 2" descr="Persona Dando Fruta A Otra">
            <a:extLst>
              <a:ext uri="{FF2B5EF4-FFF2-40B4-BE49-F238E27FC236}">
                <a16:creationId xmlns:a16="http://schemas.microsoft.com/office/drawing/2014/main" id="{907D6B82-0F08-2B2D-5BF2-C12970DDB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23" y="1972317"/>
            <a:ext cx="4078619" cy="271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06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4641AF0-36B3-9F14-F4C9-6CCAA7079E3E}"/>
              </a:ext>
            </a:extLst>
          </p:cNvPr>
          <p:cNvSpPr txBox="1"/>
          <p:nvPr/>
        </p:nvSpPr>
        <p:spPr>
          <a:xfrm>
            <a:off x="1050721" y="450011"/>
            <a:ext cx="6094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6. “En qué vamos”</a:t>
            </a:r>
          </a:p>
          <a:p>
            <a:r>
              <a:rPr lang="es-ES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(Hitos importantes del proyecto)</a:t>
            </a:r>
            <a:endParaRPr lang="es-CO" sz="18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B15E8F-FB46-F612-14ED-26A4F6A040E2}"/>
              </a:ext>
            </a:extLst>
          </p:cNvPr>
          <p:cNvSpPr txBox="1"/>
          <p:nvPr/>
        </p:nvSpPr>
        <p:spPr>
          <a:xfrm>
            <a:off x="405599" y="1329676"/>
            <a:ext cx="652704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sz="1600" dirty="0"/>
          </a:p>
          <a:p>
            <a:r>
              <a:rPr lang="es-CO" sz="1600" b="1" dirty="0"/>
              <a:t>Trayecto Recorrido y Estado Actual del Proyecto</a:t>
            </a:r>
          </a:p>
          <a:p>
            <a:endParaRPr lang="es-CO" sz="1600" dirty="0"/>
          </a:p>
          <a:p>
            <a:r>
              <a:rPr lang="es-CO" sz="1600" dirty="0"/>
              <a:t>• </a:t>
            </a:r>
            <a:r>
              <a:rPr lang="es-CO" sz="1600" b="1" dirty="0"/>
              <a:t>Validación con el Sector:</a:t>
            </a:r>
            <a:r>
              <a:rPr lang="es-CO" sz="1600" dirty="0"/>
              <a:t> Estudio de mercado con 100 directivos, docentes y estudiantes confirmando la necesidad urgente de alertas tempranas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Construcción Constante de la Plataforma:</a:t>
            </a:r>
            <a:r>
              <a:rPr lang="es-CO" sz="1600" dirty="0"/>
              <a:t> Desarrollo y pruebas continuas del prototipo funcional: panel de control para directivos, simulador interactivo para estudiantes y base de datos segura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Pruebas del Sistema Inteligente:</a:t>
            </a:r>
            <a:r>
              <a:rPr lang="es-CO" sz="1600" dirty="0"/>
              <a:t> Calibración del semáforo preventivo de deserción y del evaluador automático de entrevistas laborales en español.</a:t>
            </a:r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Estructuración Empresarial:</a:t>
            </a:r>
            <a:r>
              <a:rPr lang="es-CO" sz="1600" dirty="0"/>
              <a:t> Modelo financiero a 5 años, presupuesto de inversión ($47.3M) y constitución legal proyectada como S.A.S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Estado Actual:</a:t>
            </a:r>
            <a:r>
              <a:rPr lang="es-CO" sz="1600" dirty="0"/>
              <a:t> </a:t>
            </a:r>
            <a:r>
              <a:rPr lang="es-CO" sz="1600" b="1" dirty="0"/>
              <a:t>Prototipo 100% operativo y probado</a:t>
            </a:r>
            <a:r>
              <a:rPr lang="es-CO" sz="1600" dirty="0"/>
              <a:t>, listo para iniciar pruebas piloto en instituciones educativas antes de la venta masiva.</a:t>
            </a:r>
          </a:p>
          <a:p>
            <a:endParaRPr lang="es-CO" dirty="0"/>
          </a:p>
        </p:txBody>
      </p:sp>
      <p:pic>
        <p:nvPicPr>
          <p:cNvPr id="8" name="Picture 2" descr="Persona Vestida Con Zapatos De Cuero Negro">
            <a:extLst>
              <a:ext uri="{FF2B5EF4-FFF2-40B4-BE49-F238E27FC236}">
                <a16:creationId xmlns:a16="http://schemas.microsoft.com/office/drawing/2014/main" id="{54EBE1C9-211F-57C6-12C8-67E4BF05C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922789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CAFAD02-EB5C-ADCA-CEB1-0C8494E3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8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3CD14D6-4DD1-58BF-3ED7-0C5FF7224E11}"/>
              </a:ext>
            </a:extLst>
          </p:cNvPr>
          <p:cNvSpPr txBox="1"/>
          <p:nvPr/>
        </p:nvSpPr>
        <p:spPr>
          <a:xfrm>
            <a:off x="1361114" y="724070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7.”Los de al lado” </a:t>
            </a:r>
          </a:p>
          <a:p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Competencia)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B957C2-EFB5-82CD-42E4-4FBA9128CAAF}"/>
              </a:ext>
            </a:extLst>
          </p:cNvPr>
          <p:cNvSpPr txBox="1"/>
          <p:nvPr/>
        </p:nvSpPr>
        <p:spPr>
          <a:xfrm>
            <a:off x="485191" y="1242501"/>
            <a:ext cx="5477069" cy="521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ES" sz="1800" b="1" i="1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600" b="1" dirty="0"/>
              <a:t>Análisis de la Competencia en 5 Factores Clave</a:t>
            </a:r>
            <a:endParaRPr lang="es-CO" sz="16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AutoNum type="arabicPeriod"/>
            </a:pPr>
            <a:r>
              <a:rPr lang="es-CO" sz="1400" b="1" dirty="0"/>
              <a:t>Enfoque Preventivo:</a:t>
            </a:r>
            <a:r>
              <a:rPr lang="es-CO" sz="1400" dirty="0"/>
              <a:t> Los LMS tradicionales (Moodle, Q10) solo guardan notas del pasado; </a:t>
            </a:r>
            <a:r>
              <a:rPr lang="es-CO" sz="1400" dirty="0" err="1"/>
              <a:t>TalentLab</a:t>
            </a:r>
            <a:r>
              <a:rPr lang="es-CO" sz="1400" dirty="0"/>
              <a:t> predice el abandono a tiempo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AutoNum type="arabicPeriod"/>
            </a:pPr>
            <a:r>
              <a:rPr lang="es-CO" sz="1400" dirty="0"/>
              <a:t> </a:t>
            </a:r>
            <a:r>
              <a:rPr lang="es-CO" sz="1400" b="1" dirty="0"/>
              <a:t>Preparación Laboral:</a:t>
            </a:r>
            <a:r>
              <a:rPr lang="es-CO" sz="1400" dirty="0"/>
              <a:t> Plataformas globales de IA están en inglés y para multinacionales; </a:t>
            </a:r>
            <a:r>
              <a:rPr lang="es-CO" sz="1400" dirty="0" err="1"/>
              <a:t>TalentLab</a:t>
            </a:r>
            <a:r>
              <a:rPr lang="es-CO" sz="1400" dirty="0"/>
              <a:t> ofrece simulador en español adaptado al contexto local.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AutoNum type="arabicPeriod"/>
            </a:pPr>
            <a:r>
              <a:rPr lang="es-CO" sz="1400" b="1" dirty="0"/>
              <a:t>Estrategia de Precios:</a:t>
            </a:r>
            <a:r>
              <a:rPr lang="es-CO" sz="1400" dirty="0"/>
              <a:t> Soluciones internacionales cobran en dólares (+USD $5,000/año); </a:t>
            </a:r>
            <a:r>
              <a:rPr lang="es-CO" sz="1400" dirty="0" err="1"/>
              <a:t>TalentLab</a:t>
            </a:r>
            <a:r>
              <a:rPr lang="es-CO" sz="1400" dirty="0"/>
              <a:t> ofrece planes SaaS en pesos colombianos (desde $4.5M COP/año)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AutoNum type="arabicPeriod"/>
            </a:pPr>
            <a:r>
              <a:rPr lang="es-CO" sz="1400" b="1" dirty="0"/>
              <a:t>Segmentación de Mercado:</a:t>
            </a:r>
            <a:r>
              <a:rPr lang="es-CO" sz="1400" dirty="0"/>
              <a:t> Diseñado exclusivamente para instituciones técnicas y tecnológicas colombianas que no pueden pagar software costoso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AutoNum type="arabicPeriod"/>
            </a:pPr>
            <a:r>
              <a:rPr lang="es-CO" sz="1400" b="1" dirty="0"/>
              <a:t>Ubicación y Soporte:</a:t>
            </a:r>
            <a:r>
              <a:rPr lang="es-CO" sz="1400" dirty="0"/>
              <a:t> Acompañamiento e integración directa en Colombia frente al soporte remoto o inexistente de software extranjero.</a:t>
            </a:r>
            <a:endParaRPr lang="es-ES" sz="14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endParaRPr lang="es-CO" sz="1800" dirty="0">
              <a:solidFill>
                <a:srgbClr val="4D4D4C"/>
              </a:solidFill>
              <a:latin typeface="Josefin Sans" panose="00000500000000000000" pitchFamily="2" charset="0"/>
            </a:endParaRPr>
          </a:p>
          <a:p>
            <a:r>
              <a:rPr lang="es-CO" sz="1800" dirty="0">
                <a:solidFill>
                  <a:srgbClr val="4D4D4C"/>
                </a:solidFill>
                <a:latin typeface="Josefin Sans" panose="00000500000000000000" pitchFamily="2" charset="0"/>
              </a:rPr>
              <a:t> </a:t>
            </a:r>
          </a:p>
        </p:txBody>
      </p:sp>
      <p:pic>
        <p:nvPicPr>
          <p:cNvPr id="7" name="Picture 2" descr="Atletas Corriendo En Pista Y Campo óvalo En Fotografía En Escala De Grises">
            <a:extLst>
              <a:ext uri="{FF2B5EF4-FFF2-40B4-BE49-F238E27FC236}">
                <a16:creationId xmlns:a16="http://schemas.microsoft.com/office/drawing/2014/main" id="{7F93732E-8DD9-45DF-1311-980FE04AE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30863"/>
            <a:ext cx="4262312" cy="284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ECCF759-A2DE-1234-7DB2-50AA36FE8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01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44E463-F927-1DBB-1BAE-349FDD127C56}"/>
              </a:ext>
            </a:extLst>
          </p:cNvPr>
          <p:cNvSpPr txBox="1"/>
          <p:nvPr/>
        </p:nvSpPr>
        <p:spPr>
          <a:xfrm>
            <a:off x="590025" y="495294"/>
            <a:ext cx="6094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Josefin Sans" panose="00000500000000000000" pitchFamily="2" charset="0"/>
              </a:rPr>
              <a:t> 8. ¿ Y cómo nos conectamos?</a:t>
            </a:r>
          </a:p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Enfoque y estrategia de mercado)</a:t>
            </a:r>
            <a:endParaRPr lang="es-CO" sz="18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6DFBB9-C332-5BE1-CB61-B5980EC414FB}"/>
              </a:ext>
            </a:extLst>
          </p:cNvPr>
          <p:cNvSpPr txBox="1"/>
          <p:nvPr/>
        </p:nvSpPr>
        <p:spPr>
          <a:xfrm>
            <a:off x="419363" y="1324263"/>
            <a:ext cx="64359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Estrategia Comercial y Canales de Venta B2B</a:t>
            </a:r>
          </a:p>
          <a:p>
            <a:endParaRPr lang="es-CO" b="1" dirty="0"/>
          </a:p>
          <a:p>
            <a:r>
              <a:rPr lang="es-CO" dirty="0"/>
              <a:t>• </a:t>
            </a:r>
            <a:r>
              <a:rPr lang="es-CO" b="1" dirty="0"/>
              <a:t>Cliente Decisor:</a:t>
            </a:r>
            <a:r>
              <a:rPr lang="es-CO" dirty="0"/>
              <a:t> Directores de Bienestar y Rectores de instituciones técnicas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Canal de Contacto:</a:t>
            </a:r>
            <a:r>
              <a:rPr lang="es-CO" dirty="0"/>
              <a:t> Redes profesionales (</a:t>
            </a:r>
            <a:r>
              <a:rPr lang="es-CO" b="1" dirty="0"/>
              <a:t>LinkedIn</a:t>
            </a:r>
            <a:r>
              <a:rPr lang="es-CO" dirty="0"/>
              <a:t>), foros educativos y </a:t>
            </a:r>
            <a:r>
              <a:rPr lang="es-CO" dirty="0" err="1"/>
              <a:t>webinars</a:t>
            </a:r>
            <a:r>
              <a:rPr lang="es-CO" dirty="0"/>
              <a:t> sobre deserción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Venta Directa B2B (70% de ventas):</a:t>
            </a:r>
            <a:r>
              <a:rPr lang="es-CO" dirty="0"/>
              <a:t> Reuniones ejecutivas con demostración del prototipo en vivo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 err="1"/>
              <a:t>Inbound</a:t>
            </a:r>
            <a:r>
              <a:rPr lang="es-CO" b="1" dirty="0"/>
              <a:t> Marketing y Alianzas (30% de ventas):</a:t>
            </a:r>
            <a:r>
              <a:rPr lang="es-CO" dirty="0"/>
              <a:t> Artículos técnicos y convenios con redes educativas (ACIET)</a:t>
            </a:r>
          </a:p>
          <a:p>
            <a:br>
              <a:rPr lang="es-CO" dirty="0"/>
            </a:br>
            <a:r>
              <a:rPr lang="es-CO" dirty="0"/>
              <a:t>• </a:t>
            </a:r>
            <a:r>
              <a:rPr lang="es-CO" b="1" dirty="0"/>
              <a:t>Canal Social Freemium:</a:t>
            </a:r>
            <a:r>
              <a:rPr lang="es-CO" dirty="0"/>
              <a:t> Acceso libre para colegios públicos como motor de visibilidad de marca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500F824-61B4-21CA-033B-E066BA4D0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ersona Sosteniendo Iphone Mostrando Carpeta De Redes Sociales">
            <a:extLst>
              <a:ext uri="{FF2B5EF4-FFF2-40B4-BE49-F238E27FC236}">
                <a16:creationId xmlns:a16="http://schemas.microsoft.com/office/drawing/2014/main" id="{FE2F0B91-283D-E0AA-0974-A33231C4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810" y="2061863"/>
            <a:ext cx="4358165" cy="290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535A422-3790-4998-391A-6B2AF873009E}"/>
              </a:ext>
            </a:extLst>
          </p:cNvPr>
          <p:cNvSpPr txBox="1"/>
          <p:nvPr/>
        </p:nvSpPr>
        <p:spPr>
          <a:xfrm>
            <a:off x="1109444" y="816348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 9. “Las cuentas claras, el chocolate espeso”</a:t>
            </a:r>
          </a:p>
          <a:p>
            <a:r>
              <a:rPr lang="es-CO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</a:t>
            </a:r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Finanzas)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5ABFF6F-0169-AEC5-E6ED-B7C33EEDF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6EBA026-DF03-BC5C-A813-9CD07CD201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067058"/>
                  </p:ext>
                </p:extLst>
              </p:nvPr>
            </p:nvGraphicFramePr>
            <p:xfrm>
              <a:off x="950168" y="1975618"/>
              <a:ext cx="10515600" cy="35661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88353686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627606060"/>
                        </a:ext>
                      </a:extLst>
                    </a:gridCol>
                  </a:tblGrid>
                  <a:tr h="35625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CO" b="1">
                              <a:effectLst/>
                            </a:rPr>
                            <a:t>Elemento Financiero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CO" b="1" dirty="0">
                              <a:effectLst/>
                            </a:rPr>
                            <a:t>Cifras y Detalle del Modelo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401375"/>
                      </a:ext>
                    </a:extLst>
                  </a:tr>
                  <a:tr h="62344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Inversión y Financiación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 dirty="0">
                              <a:effectLst/>
                            </a:rPr>
                            <a:t>$47.344.222 COP (Aporte propio: </a:t>
                          </a:r>
                          <a14:m>
                            <m:oMath xmlns:m="http://schemas.openxmlformats.org/officeDocument/2006/math">
                              <m:r>
                                <a:rPr lang="es-CO"/>
                                <m:t>6.7</m:t>
                              </m:r>
                              <m:r>
                                <a:rPr lang="es-CO"/>
                                <m:t>𝑀</m:t>
                              </m:r>
                              <m:r>
                                <a:rPr lang="es-CO" b="0" i="0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es-CO"/>
                                  </m:ctrlPr>
                                </m:dPr>
                                <m:e>
                                  <m:r>
                                    <a:rPr lang="es-CO"/>
                                    <m:t>14</m:t>
                                  </m:r>
                                </m:e>
                              </m:d>
                            </m:oMath>
                          </a14:m>
                          <a:r>
                            <a:rPr lang="es-CO" dirty="0">
                              <a:effectLst/>
                            </a:rPr>
                            <a:t>40.6M [86%])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3631116"/>
                      </a:ext>
                    </a:extLst>
                  </a:tr>
                  <a:tr h="62344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Destino de los Recursos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 dirty="0">
                              <a:effectLst/>
                            </a:rPr>
                            <a:t>Cómputo: $9.85M • Muebles: $4.5M • Trámites legales/SIC: $2.8M • Capital de trabajo: $30.19M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1340951"/>
                      </a:ext>
                    </a:extLst>
                  </a:tr>
                  <a:tr h="62344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Ventas a 5 Años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Año 1: 12 lic. ($54M) ➔ Año 3: 38 lic. ($189M) ➔ Año 5: 68 lic. ($358M)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0748626"/>
                      </a:ext>
                    </a:extLst>
                  </a:tr>
                  <a:tr h="62344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Indicadores (TIO 15%)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VPN: +$125.340.830 COP | TIR: 62.88% | Recuperación (PRI): 2.4 años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3781722"/>
                      </a:ext>
                    </a:extLst>
                  </a:tr>
                  <a:tr h="62344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Punto de Equilibrio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 dirty="0">
                              <a:effectLst/>
                            </a:rPr>
                            <a:t>32.2 licencias Plan Lean (Margen Bruto: 93.07% | Relación B/C: 1.30)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677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6EBA026-DF03-BC5C-A813-9CD07CD201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067058"/>
                  </p:ext>
                </p:extLst>
              </p:nvPr>
            </p:nvGraphicFramePr>
            <p:xfrm>
              <a:off x="950168" y="1975618"/>
              <a:ext cx="10515600" cy="35661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88353686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6276060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CO" b="1">
                              <a:effectLst/>
                            </a:rPr>
                            <a:t>Elemento Financiero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CO" b="1" dirty="0">
                              <a:effectLst/>
                            </a:rPr>
                            <a:t>Cifras y Detalle del Modelo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40137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Inversión y Financiación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16" t="-61905" r="-232" b="-4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36311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Destino de los Recursos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 dirty="0">
                              <a:effectLst/>
                            </a:rPr>
                            <a:t>Cómputo: $9.85M • Muebles: $4.5M • Trámites legales/SIC: $2.8M • Capital de trabajo: $30.19M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13409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Ventas a 5 Años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Año 1: 12 lic. ($54M) ➔ Año 3: 38 lic. ($189M) ➔ Año 5: 68 lic. ($358M)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074862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Indicadores (TIO 15%)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VPN: +$125.340.830 COP | TIR: 62.88% | Recuperación (PRI): 2.4 años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378172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>
                              <a:effectLst/>
                            </a:rPr>
                            <a:t>Punto de Equilibrio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CO" dirty="0">
                              <a:effectLst/>
                            </a:rPr>
                            <a:t>32.2 licencias Plan Lean (Margen Bruto: 93.07% | Relación B/C: 1.30)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677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87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92F4BAA-5E42-6AEC-7366-EFA03DC64AA9}"/>
              </a:ext>
            </a:extLst>
          </p:cNvPr>
          <p:cNvSpPr txBox="1"/>
          <p:nvPr/>
        </p:nvSpPr>
        <p:spPr>
          <a:xfrm>
            <a:off x="1059110" y="749237"/>
            <a:ext cx="60946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Josefin Sans" panose="00000500000000000000" pitchFamily="2" charset="0"/>
              </a:rPr>
              <a:t>10. “Mis compañeros de aventura son…”</a:t>
            </a:r>
          </a:p>
          <a:p>
            <a:r>
              <a:rPr lang="es-ES" sz="1600" b="1" dirty="0">
                <a:solidFill>
                  <a:srgbClr val="00B050"/>
                </a:solidFill>
                <a:latin typeface="Josefin Sans" panose="00000500000000000000" pitchFamily="2" charset="0"/>
              </a:rPr>
              <a:t>(Equipo del emprendimiento)</a:t>
            </a:r>
            <a:endParaRPr lang="es-CO" sz="1600" b="1" dirty="0">
              <a:solidFill>
                <a:srgbClr val="00B050"/>
              </a:solidFill>
              <a:latin typeface="Josefin Sans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91BEAF-24EF-5409-846A-0589747E5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276" y="280070"/>
            <a:ext cx="13811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Grupo De Personas Que Usan Computadoras Portátiles">
            <a:extLst>
              <a:ext uri="{FF2B5EF4-FFF2-40B4-BE49-F238E27FC236}">
                <a16:creationId xmlns:a16="http://schemas.microsoft.com/office/drawing/2014/main" id="{26E0A6AC-1555-017A-BF79-F156AF33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712" y="1243151"/>
            <a:ext cx="4170717" cy="392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90BA074-C5E7-ACB1-247E-5A4998860430}"/>
              </a:ext>
            </a:extLst>
          </p:cNvPr>
          <p:cNvSpPr txBox="1"/>
          <p:nvPr/>
        </p:nvSpPr>
        <p:spPr>
          <a:xfrm>
            <a:off x="513570" y="1584448"/>
            <a:ext cx="6094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/>
              <a:t>Liderazgo del Proyecto y Visión de Equipo</a:t>
            </a:r>
          </a:p>
          <a:p>
            <a:endParaRPr lang="es-CO" sz="1600" dirty="0"/>
          </a:p>
          <a:p>
            <a:r>
              <a:rPr lang="es-CO" sz="1600" dirty="0"/>
              <a:t>•</a:t>
            </a:r>
            <a:r>
              <a:rPr lang="es-CO" sz="1600" b="1" dirty="0"/>
              <a:t>Diego Alfonso Tapia Salazar — Fundador y Líder Técnico:</a:t>
            </a:r>
          </a:p>
          <a:p>
            <a:br>
              <a:rPr lang="es-CO" sz="1600" dirty="0"/>
            </a:br>
            <a:r>
              <a:rPr lang="es-CO" sz="1600" dirty="0"/>
              <a:t>    – Tecnólogo en formación ADSO (SENA) | Estudiante de Ingeniería de Sistemas (Universidad EAN).</a:t>
            </a:r>
            <a:br>
              <a:rPr lang="es-CO" sz="1600" dirty="0"/>
            </a:br>
            <a:r>
              <a:rPr lang="es-CO" sz="1600" dirty="0"/>
              <a:t>    – Trayectoria en Seguridad de la Información, Continuidad del Negocio, Gestión de Riesgos y Gobernanza.</a:t>
            </a:r>
          </a:p>
          <a:p>
            <a:br>
              <a:rPr lang="es-CO" sz="1600" dirty="0"/>
            </a:br>
            <a:r>
              <a:rPr lang="es-CO" sz="1600" dirty="0"/>
              <a:t>• </a:t>
            </a:r>
            <a:r>
              <a:rPr lang="es-CO" sz="1600" b="1" dirty="0"/>
              <a:t>Acompañamiento y Seguimiento Institucional:</a:t>
            </a:r>
          </a:p>
          <a:p>
            <a:br>
              <a:rPr lang="es-CO" sz="1600" dirty="0"/>
            </a:br>
            <a:r>
              <a:rPr lang="es-CO" sz="1600" dirty="0"/>
              <a:t>    – </a:t>
            </a:r>
            <a:r>
              <a:rPr lang="es-CO" sz="1600" b="1" dirty="0"/>
              <a:t>Instructor John Fernando Méndez Medina:</a:t>
            </a:r>
            <a:r>
              <a:rPr lang="es-CO" sz="1600" dirty="0"/>
              <a:t> Apoyo metodológico y seguimiento técnico en la etapa productiva (SENA).</a:t>
            </a:r>
            <a:br>
              <a:rPr lang="es-CO" sz="1600" dirty="0"/>
            </a:br>
            <a:r>
              <a:rPr lang="es-CO" sz="1600" dirty="0"/>
              <a:t>• </a:t>
            </a:r>
          </a:p>
          <a:p>
            <a:r>
              <a:rPr lang="es-CO" sz="1600" b="1" dirty="0"/>
              <a:t>La Necesidad Interdisciplinaria para la Puesta en Marcha Real:</a:t>
            </a:r>
            <a:br>
              <a:rPr lang="es-CO" sz="1600" dirty="0"/>
            </a:br>
            <a:r>
              <a:rPr lang="es-CO" sz="1600" dirty="0"/>
              <a:t>    – Reconocimiento de que llevar </a:t>
            </a:r>
            <a:r>
              <a:rPr lang="es-CO" sz="1600" dirty="0" err="1"/>
              <a:t>TalentLab</a:t>
            </a:r>
            <a:r>
              <a:rPr lang="es-CO" sz="1600" dirty="0"/>
              <a:t> a entornos laborales reales requiere sumar perfiles en Psicopedagogía, Ciencia de Datos y Gestión Comercial B2B.</a:t>
            </a:r>
          </a:p>
        </p:txBody>
      </p:sp>
    </p:spTree>
    <p:extLst>
      <p:ext uri="{BB962C8B-B14F-4D97-AF65-F5344CB8AC3E}">
        <p14:creationId xmlns:p14="http://schemas.microsoft.com/office/powerpoint/2010/main" val="381532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3" ma:contentTypeDescription="Crear nuevo documento." ma:contentTypeScope="" ma:versionID="7588953d79b37feb9934caf9b24b5887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8a576e1ff98af8803e81906898dd43d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07C22C-0ADE-4E74-9F22-92A5F804D7D0}">
  <ds:schemaRefs>
    <ds:schemaRef ds:uri="http://schemas.microsoft.com/sharepoint/v3"/>
    <ds:schemaRef ds:uri="http://schemas.microsoft.com/office/2006/metadata/properties"/>
    <ds:schemaRef ds:uri="edbb1c21-1b45-407e-8894-c97732534993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41dd0a9e-964d-48c8-9389-7445c2a187f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4793A44-C896-41D7-AA95-258C41799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083A07-3D98-4AA4-8E51-420644468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dbb1c21-1b45-407e-8894-c97732534993"/>
    <ds:schemaRef ds:uri="41dd0a9e-964d-48c8-9389-7445c2a187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1423</Words>
  <Application>Microsoft Office PowerPoint</Application>
  <PresentationFormat>Panorámica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Josefin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AULA231</dc:creator>
  <cp:lastModifiedBy>Diego Tapia Salazar</cp:lastModifiedBy>
  <cp:revision>8</cp:revision>
  <dcterms:created xsi:type="dcterms:W3CDTF">2023-03-21T18:45:23Z</dcterms:created>
  <dcterms:modified xsi:type="dcterms:W3CDTF">2026-10-26T14:37:40Z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SetDate">
    <vt:lpwstr>2023-06-23T14:20:41Z</vt:lpwstr>
  </property>
  <property fmtid="{D5CDD505-2E9C-101B-9397-08002B2CF9AE}" pid="4" name="MSIP_Label_1299739c-ad3d-4908-806e-4d91151a6e13_Method">
    <vt:lpwstr>Standard</vt:lpwstr>
  </property>
  <property fmtid="{D5CDD505-2E9C-101B-9397-08002B2CF9AE}" pid="5" name="MSIP_Label_1299739c-ad3d-4908-806e-4d91151a6e13_Name">
    <vt:lpwstr>All Employees (Unrestricted)</vt:lpwstr>
  </property>
  <property fmtid="{D5CDD505-2E9C-101B-9397-08002B2CF9AE}" pid="6" name="MSIP_Label_1299739c-ad3d-4908-806e-4d91151a6e13_SiteId">
    <vt:lpwstr>cbc2c381-2f2e-4d93-91d1-506c9316ace7</vt:lpwstr>
  </property>
  <property fmtid="{D5CDD505-2E9C-101B-9397-08002B2CF9AE}" pid="7" name="MSIP_Label_1299739c-ad3d-4908-806e-4d91151a6e13_ActionId">
    <vt:lpwstr>2fcef71c-15bc-4f65-919b-d7b503a25333</vt:lpwstr>
  </property>
  <property fmtid="{D5CDD505-2E9C-101B-9397-08002B2CF9AE}" pid="8" name="MSIP_Label_1299739c-ad3d-4908-806e-4d91151a6e13_ContentBits">
    <vt:lpwstr>0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