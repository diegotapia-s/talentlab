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E15462-8F3D-4C51-9038-72DEFD295ECB}" type="doc">
      <dgm:prSet loTypeId="urn:microsoft.com/office/officeart/2005/8/layout/cycle1" loCatId="cycl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s-ES"/>
        </a:p>
      </dgm:t>
    </dgm:pt>
    <dgm:pt modelId="{034CDE8E-B2A9-4E1E-B64A-904B09C20502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2. Presenta el problema y/o necesidad</a:t>
          </a:r>
          <a:r>
            <a:rPr lang="es-ES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Josefin Sans" panose="00000500000000000000" pitchFamily="2" charset="0"/>
            </a:rPr>
            <a:t>.</a:t>
          </a:r>
          <a:endParaRPr lang="es-ES" sz="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D32B512-4431-4188-B4A6-1348AB03D760}" type="parTrans" cxnId="{A5406953-5106-41EF-9E33-1E3B02EF1D24}">
      <dgm:prSet/>
      <dgm:spPr/>
      <dgm:t>
        <a:bodyPr/>
        <a:lstStyle/>
        <a:p>
          <a:endParaRPr lang="es-ES"/>
        </a:p>
      </dgm:t>
    </dgm:pt>
    <dgm:pt modelId="{898D1AD8-C62B-4760-BBB3-CFFA028EEDA8}" type="sibTrans" cxnId="{A5406953-5106-41EF-9E33-1E3B02EF1D24}">
      <dgm:prSet/>
      <dgm:spPr/>
      <dgm:t>
        <a:bodyPr/>
        <a:lstStyle/>
        <a:p>
          <a:endParaRPr lang="es-ES"/>
        </a:p>
      </dgm:t>
    </dgm:pt>
    <dgm:pt modelId="{D45A3878-E47B-4C2C-B18F-233FC4AF1D5A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4. Explica la solución presentando los resultados de la validación y tu Producto Mínimo Viable</a:t>
          </a:r>
        </a:p>
      </dgm:t>
    </dgm:pt>
    <dgm:pt modelId="{07C9023C-5154-403C-AB0D-AA5FE36D9AC7}" type="parTrans" cxnId="{51B3C9F0-8E8E-4FE5-9511-181A3FB4A370}">
      <dgm:prSet/>
      <dgm:spPr/>
      <dgm:t>
        <a:bodyPr/>
        <a:lstStyle/>
        <a:p>
          <a:endParaRPr lang="es-ES"/>
        </a:p>
      </dgm:t>
    </dgm:pt>
    <dgm:pt modelId="{8EAD4F29-F68F-440D-BADC-DC6F8819E824}" type="sibTrans" cxnId="{51B3C9F0-8E8E-4FE5-9511-181A3FB4A370}">
      <dgm:prSet/>
      <dgm:spPr/>
      <dgm:t>
        <a:bodyPr/>
        <a:lstStyle/>
        <a:p>
          <a:endParaRPr lang="es-ES"/>
        </a:p>
      </dgm:t>
    </dgm:pt>
    <dgm:pt modelId="{5A04C44D-C0E1-4B13-8EC9-A0528D875B47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6. Presenta los momentos claves  de tu  idea de negocios. </a:t>
          </a:r>
        </a:p>
      </dgm:t>
    </dgm:pt>
    <dgm:pt modelId="{735D546D-7B51-4C90-B5B8-F431DF17EC4C}" type="parTrans" cxnId="{D70C1D1C-0F1F-4E43-B064-500B47324612}">
      <dgm:prSet/>
      <dgm:spPr/>
      <dgm:t>
        <a:bodyPr/>
        <a:lstStyle/>
        <a:p>
          <a:endParaRPr lang="es-ES"/>
        </a:p>
      </dgm:t>
    </dgm:pt>
    <dgm:pt modelId="{B353A3A0-4BB2-47F8-8660-F5F68DEBB45B}" type="sibTrans" cxnId="{D70C1D1C-0F1F-4E43-B064-500B47324612}">
      <dgm:prSet/>
      <dgm:spPr/>
      <dgm:t>
        <a:bodyPr/>
        <a:lstStyle/>
        <a:p>
          <a:endParaRPr lang="es-ES"/>
        </a:p>
      </dgm:t>
    </dgm:pt>
    <dgm:pt modelId="{DDF5495A-ED8F-4CBF-90AA-52E91B0F974D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7. Presente el análisis realizado a la competencia.</a:t>
          </a:r>
        </a:p>
      </dgm:t>
    </dgm:pt>
    <dgm:pt modelId="{A2C3A9C1-39B3-4E11-A150-A9597BD5F3A5}" type="parTrans" cxnId="{5A89F13C-9BCA-4CD1-85EA-B724B4EB9A5B}">
      <dgm:prSet/>
      <dgm:spPr/>
      <dgm:t>
        <a:bodyPr/>
        <a:lstStyle/>
        <a:p>
          <a:endParaRPr lang="es-ES"/>
        </a:p>
      </dgm:t>
    </dgm:pt>
    <dgm:pt modelId="{2643CB98-36A8-4012-B2DC-54D795A23F8E}" type="sibTrans" cxnId="{5A89F13C-9BCA-4CD1-85EA-B724B4EB9A5B}">
      <dgm:prSet/>
      <dgm:spPr/>
      <dgm:t>
        <a:bodyPr/>
        <a:lstStyle/>
        <a:p>
          <a:endParaRPr lang="es-ES"/>
        </a:p>
      </dgm:t>
    </dgm:pt>
    <dgm:pt modelId="{A6444D54-FA08-4C85-877A-BC5406CF4EBD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10. Cuenta tu historia y la de tu equipo</a:t>
          </a:r>
        </a:p>
      </dgm:t>
    </dgm:pt>
    <dgm:pt modelId="{C3CA1007-15D4-4A5A-8EF1-02556BC02816}" type="parTrans" cxnId="{FB5EAD8E-F514-4B25-9D97-25E3EC28957C}">
      <dgm:prSet/>
      <dgm:spPr/>
      <dgm:t>
        <a:bodyPr/>
        <a:lstStyle/>
        <a:p>
          <a:endParaRPr lang="es-ES"/>
        </a:p>
      </dgm:t>
    </dgm:pt>
    <dgm:pt modelId="{39EECDCD-7E5A-49DB-BF25-D0428A85E907}" type="sibTrans" cxnId="{FB5EAD8E-F514-4B25-9D97-25E3EC28957C}">
      <dgm:prSet/>
      <dgm:spPr/>
      <dgm:t>
        <a:bodyPr/>
        <a:lstStyle/>
        <a:p>
          <a:endParaRPr lang="es-ES"/>
        </a:p>
      </dgm:t>
    </dgm:pt>
    <dgm:pt modelId="{1A7A6048-8D1E-4CCB-AB57-A75B91002020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5. Focaliza la atención en la oportunidad del negocio. </a:t>
          </a:r>
        </a:p>
      </dgm:t>
    </dgm:pt>
    <dgm:pt modelId="{3C61DCC7-D067-4AF7-B323-CA19CC6FC2D1}" type="parTrans" cxnId="{188F5469-7F54-45AE-8DCF-81C2C30149EF}">
      <dgm:prSet/>
      <dgm:spPr/>
      <dgm:t>
        <a:bodyPr/>
        <a:lstStyle/>
        <a:p>
          <a:endParaRPr lang="es-ES"/>
        </a:p>
      </dgm:t>
    </dgm:pt>
    <dgm:pt modelId="{479B4475-028B-49AA-B2F9-90BDBEE58BE0}" type="sibTrans" cxnId="{188F5469-7F54-45AE-8DCF-81C2C30149EF}">
      <dgm:prSet/>
      <dgm:spPr/>
      <dgm:t>
        <a:bodyPr/>
        <a:lstStyle/>
        <a:p>
          <a:endParaRPr lang="es-ES"/>
        </a:p>
      </dgm:t>
    </dgm:pt>
    <dgm:pt modelId="{6BE05E82-0788-434F-8F1F-766CCBB53E26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8. Describe la estrategia de mercado y canales de ventas.</a:t>
          </a:r>
        </a:p>
      </dgm:t>
    </dgm:pt>
    <dgm:pt modelId="{54298CCB-BB42-4CAF-810E-91D928F773ED}" type="parTrans" cxnId="{BF7A8D97-B1E5-4353-B6B3-E3190750EA2D}">
      <dgm:prSet/>
      <dgm:spPr/>
      <dgm:t>
        <a:bodyPr/>
        <a:lstStyle/>
        <a:p>
          <a:endParaRPr lang="es-ES"/>
        </a:p>
      </dgm:t>
    </dgm:pt>
    <dgm:pt modelId="{CBBF1D43-21BB-410C-AC6C-70C1D793650C}" type="sibTrans" cxnId="{BF7A8D97-B1E5-4353-B6B3-E3190750EA2D}">
      <dgm:prSet/>
      <dgm:spPr/>
      <dgm:t>
        <a:bodyPr/>
        <a:lstStyle/>
        <a:p>
          <a:endParaRPr lang="es-ES"/>
        </a:p>
      </dgm:t>
    </dgm:pt>
    <dgm:pt modelId="{2876A3AF-B4F2-4DB1-8BAA-28B5221EB7CB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9. Presente las cifras de tu modelo de negocio . </a:t>
          </a:r>
        </a:p>
      </dgm:t>
    </dgm:pt>
    <dgm:pt modelId="{A54849D3-978E-4AEF-BE10-1000943F0C62}" type="parTrans" cxnId="{A2BB935A-1673-4E24-9772-4C44973FA503}">
      <dgm:prSet/>
      <dgm:spPr/>
      <dgm:t>
        <a:bodyPr/>
        <a:lstStyle/>
        <a:p>
          <a:endParaRPr lang="es-ES"/>
        </a:p>
      </dgm:t>
    </dgm:pt>
    <dgm:pt modelId="{A2344B46-04F2-4FB8-876F-797A525BBF96}" type="sibTrans" cxnId="{A2BB935A-1673-4E24-9772-4C44973FA503}">
      <dgm:prSet/>
      <dgm:spPr/>
      <dgm:t>
        <a:bodyPr/>
        <a:lstStyle/>
        <a:p>
          <a:endParaRPr lang="es-ES"/>
        </a:p>
      </dgm:t>
    </dgm:pt>
    <dgm:pt modelId="{187513CB-0041-48B1-8C3C-3793F176A38C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3. ¿A quién le sirve lo que hago?</a:t>
          </a:r>
        </a:p>
      </dgm:t>
    </dgm:pt>
    <dgm:pt modelId="{8949FE4E-3294-4BCB-911F-B885278D68F4}" type="parTrans" cxnId="{B84210D0-4EBE-49B8-B9AC-88A965777B26}">
      <dgm:prSet/>
      <dgm:spPr/>
      <dgm:t>
        <a:bodyPr/>
        <a:lstStyle/>
        <a:p>
          <a:endParaRPr lang="es-ES"/>
        </a:p>
      </dgm:t>
    </dgm:pt>
    <dgm:pt modelId="{91AF92F1-664C-44A9-A9AF-60B4FDE9F772}" type="sibTrans" cxnId="{B84210D0-4EBE-49B8-B9AC-88A965777B26}">
      <dgm:prSet/>
      <dgm:spPr/>
      <dgm:t>
        <a:bodyPr/>
        <a:lstStyle/>
        <a:p>
          <a:endParaRPr lang="es-ES"/>
        </a:p>
      </dgm:t>
    </dgm:pt>
    <dgm:pt modelId="{A7C14BFC-42FD-484E-A7DC-C81B0C13922D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1. ¿Quién es el Emprendedor?</a:t>
          </a:r>
        </a:p>
      </dgm:t>
    </dgm:pt>
    <dgm:pt modelId="{484E0BE8-1F82-4C49-81A1-CA7D3184A632}" type="parTrans" cxnId="{B6CFFF5C-1847-43B3-A3A4-689062C97691}">
      <dgm:prSet/>
      <dgm:spPr/>
      <dgm:t>
        <a:bodyPr/>
        <a:lstStyle/>
        <a:p>
          <a:endParaRPr lang="es-ES"/>
        </a:p>
      </dgm:t>
    </dgm:pt>
    <dgm:pt modelId="{3E45865D-2544-4A4A-824E-AB2F19DC12D1}" type="sibTrans" cxnId="{B6CFFF5C-1847-43B3-A3A4-689062C97691}">
      <dgm:prSet/>
      <dgm:spPr/>
      <dgm:t>
        <a:bodyPr/>
        <a:lstStyle/>
        <a:p>
          <a:endParaRPr lang="es-ES"/>
        </a:p>
      </dgm:t>
    </dgm:pt>
    <dgm:pt modelId="{5724728F-2991-471C-8F3E-8655C7CF9A7F}" type="pres">
      <dgm:prSet presAssocID="{05E15462-8F3D-4C51-9038-72DEFD295ECB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7553334A-46BC-496D-AD66-04BC3B4CFE45}" type="pres">
      <dgm:prSet presAssocID="{A7C14BFC-42FD-484E-A7DC-C81B0C13922D}" presName="dummy" presStyleCnt="0"/>
      <dgm:spPr/>
    </dgm:pt>
    <dgm:pt modelId="{3B3F15E8-7D55-4FC5-BDE6-E09F64430BA7}" type="pres">
      <dgm:prSet presAssocID="{A7C14BFC-42FD-484E-A7DC-C81B0C13922D}" presName="node" presStyleLbl="revTx" presStyleIdx="0" presStyleCnt="10" custScaleX="161151" custRadScaleRad="98316" custRadScaleInc="443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E13AB0A-5338-43D8-B58F-44F7F16C54D7}" type="pres">
      <dgm:prSet presAssocID="{3E45865D-2544-4A4A-824E-AB2F19DC12D1}" presName="sibTrans" presStyleLbl="node1" presStyleIdx="0" presStyleCnt="10"/>
      <dgm:spPr/>
      <dgm:t>
        <a:bodyPr/>
        <a:lstStyle/>
        <a:p>
          <a:endParaRPr lang="es-ES"/>
        </a:p>
      </dgm:t>
    </dgm:pt>
    <dgm:pt modelId="{01F90C7E-170C-408F-BBD0-08B3EC1512B8}" type="pres">
      <dgm:prSet presAssocID="{034CDE8E-B2A9-4E1E-B64A-904B09C20502}" presName="dummy" presStyleCnt="0"/>
      <dgm:spPr/>
    </dgm:pt>
    <dgm:pt modelId="{420BD5EA-43B2-44FA-8803-BCC6A1A5A971}" type="pres">
      <dgm:prSet presAssocID="{034CDE8E-B2A9-4E1E-B64A-904B09C20502}" presName="node" presStyleLbl="revTx" presStyleIdx="1" presStyleCnt="10" custScaleX="17630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5A28ECE-5F95-4A81-8113-75DC5544F906}" type="pres">
      <dgm:prSet presAssocID="{898D1AD8-C62B-4760-BBB3-CFFA028EEDA8}" presName="sibTrans" presStyleLbl="node1" presStyleIdx="1" presStyleCnt="10"/>
      <dgm:spPr/>
      <dgm:t>
        <a:bodyPr/>
        <a:lstStyle/>
        <a:p>
          <a:endParaRPr lang="es-ES"/>
        </a:p>
      </dgm:t>
    </dgm:pt>
    <dgm:pt modelId="{88C4B6AB-74EB-4C33-AEC2-F873BE56C77E}" type="pres">
      <dgm:prSet presAssocID="{187513CB-0041-48B1-8C3C-3793F176A38C}" presName="dummy" presStyleCnt="0"/>
      <dgm:spPr/>
    </dgm:pt>
    <dgm:pt modelId="{9777A358-330E-42F4-A39C-90DE533A7C5A}" type="pres">
      <dgm:prSet presAssocID="{187513CB-0041-48B1-8C3C-3793F176A38C}" presName="node" presStyleLbl="revTx" presStyleIdx="2" presStyleCnt="10" custScaleX="141465" custScaleY="80155" custRadScaleRad="102335" custRadScaleInc="-1644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CFAF20E-2CE9-410D-8C4F-99A003CC7A05}" type="pres">
      <dgm:prSet presAssocID="{91AF92F1-664C-44A9-A9AF-60B4FDE9F772}" presName="sibTrans" presStyleLbl="node1" presStyleIdx="2" presStyleCnt="10"/>
      <dgm:spPr/>
      <dgm:t>
        <a:bodyPr/>
        <a:lstStyle/>
        <a:p>
          <a:endParaRPr lang="es-ES"/>
        </a:p>
      </dgm:t>
    </dgm:pt>
    <dgm:pt modelId="{14BA54F5-845B-4279-9CE6-EE3BF42F5D6D}" type="pres">
      <dgm:prSet presAssocID="{D45A3878-E47B-4C2C-B18F-233FC4AF1D5A}" presName="dummy" presStyleCnt="0"/>
      <dgm:spPr/>
    </dgm:pt>
    <dgm:pt modelId="{9D700E5C-BD52-44F7-8383-C15FE2812038}" type="pres">
      <dgm:prSet presAssocID="{D45A3878-E47B-4C2C-B18F-233FC4AF1D5A}" presName="node" presStyleLbl="revTx" presStyleIdx="3" presStyleCnt="10" custScaleX="252781" custScaleY="10666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C31F8FC-833D-4CF5-AD19-1119055ECA89}" type="pres">
      <dgm:prSet presAssocID="{8EAD4F29-F68F-440D-BADC-DC6F8819E824}" presName="sibTrans" presStyleLbl="node1" presStyleIdx="3" presStyleCnt="10"/>
      <dgm:spPr/>
      <dgm:t>
        <a:bodyPr/>
        <a:lstStyle/>
        <a:p>
          <a:endParaRPr lang="es-ES"/>
        </a:p>
      </dgm:t>
    </dgm:pt>
    <dgm:pt modelId="{4196D907-CD02-48D9-B960-003FFDCA0085}" type="pres">
      <dgm:prSet presAssocID="{1A7A6048-8D1E-4CCB-AB57-A75B91002020}" presName="dummy" presStyleCnt="0"/>
      <dgm:spPr/>
    </dgm:pt>
    <dgm:pt modelId="{DC19223B-BA97-489C-9FA1-B5820447A0A9}" type="pres">
      <dgm:prSet presAssocID="{1A7A6048-8D1E-4CCB-AB57-A75B91002020}" presName="node" presStyleLbl="revTx" presStyleIdx="4" presStyleCnt="10" custScaleX="17607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8A8699B-3356-4B7B-86C7-BB255DDA25C7}" type="pres">
      <dgm:prSet presAssocID="{479B4475-028B-49AA-B2F9-90BDBEE58BE0}" presName="sibTrans" presStyleLbl="node1" presStyleIdx="4" presStyleCnt="10"/>
      <dgm:spPr/>
      <dgm:t>
        <a:bodyPr/>
        <a:lstStyle/>
        <a:p>
          <a:endParaRPr lang="es-ES"/>
        </a:p>
      </dgm:t>
    </dgm:pt>
    <dgm:pt modelId="{2D917792-A278-42C5-B9B9-E43B90B8C142}" type="pres">
      <dgm:prSet presAssocID="{5A04C44D-C0E1-4B13-8EC9-A0528D875B47}" presName="dummy" presStyleCnt="0"/>
      <dgm:spPr/>
    </dgm:pt>
    <dgm:pt modelId="{2959AFB0-C8CA-4E0A-A53F-203C7FFFBF0A}" type="pres">
      <dgm:prSet presAssocID="{5A04C44D-C0E1-4B13-8EC9-A0528D875B47}" presName="node" presStyleLbl="revTx" presStyleIdx="5" presStyleCnt="10" custScaleX="17294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C6AC8A5-37C0-4DE2-B2BE-410A5BFD8F16}" type="pres">
      <dgm:prSet presAssocID="{B353A3A0-4BB2-47F8-8660-F5F68DEBB45B}" presName="sibTrans" presStyleLbl="node1" presStyleIdx="5" presStyleCnt="10" custScaleX="120544" custScaleY="96035"/>
      <dgm:spPr/>
      <dgm:t>
        <a:bodyPr/>
        <a:lstStyle/>
        <a:p>
          <a:endParaRPr lang="es-ES"/>
        </a:p>
      </dgm:t>
    </dgm:pt>
    <dgm:pt modelId="{2F0D8111-9349-4F5B-A135-6790DAD0F65C}" type="pres">
      <dgm:prSet presAssocID="{DDF5495A-ED8F-4CBF-90AA-52E91B0F974D}" presName="dummy" presStyleCnt="0"/>
      <dgm:spPr/>
    </dgm:pt>
    <dgm:pt modelId="{30E18A30-8612-448E-9FCD-A4E8B810D55A}" type="pres">
      <dgm:prSet presAssocID="{DDF5495A-ED8F-4CBF-90AA-52E91B0F974D}" presName="node" presStyleLbl="revTx" presStyleIdx="6" presStyleCnt="10" custScaleX="19776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D57837E-456A-47B7-93E4-3ADD42796347}" type="pres">
      <dgm:prSet presAssocID="{2643CB98-36A8-4012-B2DC-54D795A23F8E}" presName="sibTrans" presStyleLbl="node1" presStyleIdx="6" presStyleCnt="10"/>
      <dgm:spPr/>
      <dgm:t>
        <a:bodyPr/>
        <a:lstStyle/>
        <a:p>
          <a:endParaRPr lang="es-ES"/>
        </a:p>
      </dgm:t>
    </dgm:pt>
    <dgm:pt modelId="{C5460AA0-0973-44A5-A62B-DF756CD6918B}" type="pres">
      <dgm:prSet presAssocID="{6BE05E82-0788-434F-8F1F-766CCBB53E26}" presName="dummy" presStyleCnt="0"/>
      <dgm:spPr/>
    </dgm:pt>
    <dgm:pt modelId="{BDBA44C2-FAC8-4B97-8397-316AEF75DF95}" type="pres">
      <dgm:prSet presAssocID="{6BE05E82-0788-434F-8F1F-766CCBB53E26}" presName="node" presStyleLbl="revTx" presStyleIdx="7" presStyleCnt="10" custScaleX="21508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0D498C8-D633-4DAB-A232-DDE8FFFB5F15}" type="pres">
      <dgm:prSet presAssocID="{CBBF1D43-21BB-410C-AC6C-70C1D793650C}" presName="sibTrans" presStyleLbl="node1" presStyleIdx="7" presStyleCnt="10"/>
      <dgm:spPr/>
      <dgm:t>
        <a:bodyPr/>
        <a:lstStyle/>
        <a:p>
          <a:endParaRPr lang="es-ES"/>
        </a:p>
      </dgm:t>
    </dgm:pt>
    <dgm:pt modelId="{61420328-E97A-4C20-AE5E-71DE1D92F3FB}" type="pres">
      <dgm:prSet presAssocID="{2876A3AF-B4F2-4DB1-8BAA-28B5221EB7CB}" presName="dummy" presStyleCnt="0"/>
      <dgm:spPr/>
    </dgm:pt>
    <dgm:pt modelId="{FEF4C21C-9519-4E2B-BDEC-2672152CB9DB}" type="pres">
      <dgm:prSet presAssocID="{2876A3AF-B4F2-4DB1-8BAA-28B5221EB7CB}" presName="node" presStyleLbl="revTx" presStyleIdx="8" presStyleCnt="10" custScaleX="21473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33A4974-B8FC-4117-BB7D-FCAC4975A154}" type="pres">
      <dgm:prSet presAssocID="{A2344B46-04F2-4FB8-876F-797A525BBF96}" presName="sibTrans" presStyleLbl="node1" presStyleIdx="8" presStyleCnt="10"/>
      <dgm:spPr/>
      <dgm:t>
        <a:bodyPr/>
        <a:lstStyle/>
        <a:p>
          <a:endParaRPr lang="es-ES"/>
        </a:p>
      </dgm:t>
    </dgm:pt>
    <dgm:pt modelId="{DFE84411-DF4A-4838-B368-37F058FB850F}" type="pres">
      <dgm:prSet presAssocID="{A6444D54-FA08-4C85-877A-BC5406CF4EBD}" presName="dummy" presStyleCnt="0"/>
      <dgm:spPr/>
    </dgm:pt>
    <dgm:pt modelId="{D5A464D3-EE9A-402A-B509-F4AF5037A84F}" type="pres">
      <dgm:prSet presAssocID="{A6444D54-FA08-4C85-877A-BC5406CF4EBD}" presName="node" presStyleLbl="revTx" presStyleIdx="9" presStyleCnt="10" custScaleX="147432" custRadScaleRad="101234" custRadScaleInc="199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67C72B1-2C49-4884-AC8E-83A3A1C4B2E6}" type="pres">
      <dgm:prSet presAssocID="{39EECDCD-7E5A-49DB-BF25-D0428A85E907}" presName="sibTrans" presStyleLbl="node1" presStyleIdx="9" presStyleCnt="10"/>
      <dgm:spPr/>
      <dgm:t>
        <a:bodyPr/>
        <a:lstStyle/>
        <a:p>
          <a:endParaRPr lang="es-ES"/>
        </a:p>
      </dgm:t>
    </dgm:pt>
  </dgm:ptLst>
  <dgm:cxnLst>
    <dgm:cxn modelId="{188F5469-7F54-45AE-8DCF-81C2C30149EF}" srcId="{05E15462-8F3D-4C51-9038-72DEFD295ECB}" destId="{1A7A6048-8D1E-4CCB-AB57-A75B91002020}" srcOrd="4" destOrd="0" parTransId="{3C61DCC7-D067-4AF7-B323-CA19CC6FC2D1}" sibTransId="{479B4475-028B-49AA-B2F9-90BDBEE58BE0}"/>
    <dgm:cxn modelId="{B1334330-C25C-4CF3-A6A6-424738A9FF83}" type="presOf" srcId="{91AF92F1-664C-44A9-A9AF-60B4FDE9F772}" destId="{4CFAF20E-2CE9-410D-8C4F-99A003CC7A05}" srcOrd="0" destOrd="0" presId="urn:microsoft.com/office/officeart/2005/8/layout/cycle1"/>
    <dgm:cxn modelId="{3839C451-7E83-4F7B-9F86-51C82D303344}" type="presOf" srcId="{2876A3AF-B4F2-4DB1-8BAA-28B5221EB7CB}" destId="{FEF4C21C-9519-4E2B-BDEC-2672152CB9DB}" srcOrd="0" destOrd="0" presId="urn:microsoft.com/office/officeart/2005/8/layout/cycle1"/>
    <dgm:cxn modelId="{C0A0F42D-308F-4B81-8F79-03A4FF870FBE}" type="presOf" srcId="{6BE05E82-0788-434F-8F1F-766CCBB53E26}" destId="{BDBA44C2-FAC8-4B97-8397-316AEF75DF95}" srcOrd="0" destOrd="0" presId="urn:microsoft.com/office/officeart/2005/8/layout/cycle1"/>
    <dgm:cxn modelId="{D70C1D1C-0F1F-4E43-B064-500B47324612}" srcId="{05E15462-8F3D-4C51-9038-72DEFD295ECB}" destId="{5A04C44D-C0E1-4B13-8EC9-A0528D875B47}" srcOrd="5" destOrd="0" parTransId="{735D546D-7B51-4C90-B5B8-F431DF17EC4C}" sibTransId="{B353A3A0-4BB2-47F8-8660-F5F68DEBB45B}"/>
    <dgm:cxn modelId="{0CE4E77E-D2ED-4B9E-9887-45E6045A1D33}" type="presOf" srcId="{05E15462-8F3D-4C51-9038-72DEFD295ECB}" destId="{5724728F-2991-471C-8F3E-8655C7CF9A7F}" srcOrd="0" destOrd="0" presId="urn:microsoft.com/office/officeart/2005/8/layout/cycle1"/>
    <dgm:cxn modelId="{74320E36-F702-4786-B766-631E0F214044}" type="presOf" srcId="{479B4475-028B-49AA-B2F9-90BDBEE58BE0}" destId="{08A8699B-3356-4B7B-86C7-BB255DDA25C7}" srcOrd="0" destOrd="0" presId="urn:microsoft.com/office/officeart/2005/8/layout/cycle1"/>
    <dgm:cxn modelId="{5A89F13C-9BCA-4CD1-85EA-B724B4EB9A5B}" srcId="{05E15462-8F3D-4C51-9038-72DEFD295ECB}" destId="{DDF5495A-ED8F-4CBF-90AA-52E91B0F974D}" srcOrd="6" destOrd="0" parTransId="{A2C3A9C1-39B3-4E11-A150-A9597BD5F3A5}" sibTransId="{2643CB98-36A8-4012-B2DC-54D795A23F8E}"/>
    <dgm:cxn modelId="{2DC2AB74-D75D-4802-98C9-690EF6EE66F8}" type="presOf" srcId="{D45A3878-E47B-4C2C-B18F-233FC4AF1D5A}" destId="{9D700E5C-BD52-44F7-8383-C15FE2812038}" srcOrd="0" destOrd="0" presId="urn:microsoft.com/office/officeart/2005/8/layout/cycle1"/>
    <dgm:cxn modelId="{B6CFFF5C-1847-43B3-A3A4-689062C97691}" srcId="{05E15462-8F3D-4C51-9038-72DEFD295ECB}" destId="{A7C14BFC-42FD-484E-A7DC-C81B0C13922D}" srcOrd="0" destOrd="0" parTransId="{484E0BE8-1F82-4C49-81A1-CA7D3184A632}" sibTransId="{3E45865D-2544-4A4A-824E-AB2F19DC12D1}"/>
    <dgm:cxn modelId="{FD37194A-24B4-41AB-A8E5-5BBEE7002A7C}" type="presOf" srcId="{5A04C44D-C0E1-4B13-8EC9-A0528D875B47}" destId="{2959AFB0-C8CA-4E0A-A53F-203C7FFFBF0A}" srcOrd="0" destOrd="0" presId="urn:microsoft.com/office/officeart/2005/8/layout/cycle1"/>
    <dgm:cxn modelId="{215C5279-BEE9-4936-9FAA-B984C3BE419E}" type="presOf" srcId="{A6444D54-FA08-4C85-877A-BC5406CF4EBD}" destId="{D5A464D3-EE9A-402A-B509-F4AF5037A84F}" srcOrd="0" destOrd="0" presId="urn:microsoft.com/office/officeart/2005/8/layout/cycle1"/>
    <dgm:cxn modelId="{57E73DAD-0F8D-4CD5-B8E0-F245037A796D}" type="presOf" srcId="{39EECDCD-7E5A-49DB-BF25-D0428A85E907}" destId="{967C72B1-2C49-4884-AC8E-83A3A1C4B2E6}" srcOrd="0" destOrd="0" presId="urn:microsoft.com/office/officeart/2005/8/layout/cycle1"/>
    <dgm:cxn modelId="{A5406953-5106-41EF-9E33-1E3B02EF1D24}" srcId="{05E15462-8F3D-4C51-9038-72DEFD295ECB}" destId="{034CDE8E-B2A9-4E1E-B64A-904B09C20502}" srcOrd="1" destOrd="0" parTransId="{FD32B512-4431-4188-B4A6-1348AB03D760}" sibTransId="{898D1AD8-C62B-4760-BBB3-CFFA028EEDA8}"/>
    <dgm:cxn modelId="{3FADF241-E85F-479F-9D2B-DDF757CB2D3D}" type="presOf" srcId="{1A7A6048-8D1E-4CCB-AB57-A75B91002020}" destId="{DC19223B-BA97-489C-9FA1-B5820447A0A9}" srcOrd="0" destOrd="0" presId="urn:microsoft.com/office/officeart/2005/8/layout/cycle1"/>
    <dgm:cxn modelId="{B0A2A037-E134-479E-9CD9-D9A7841A09AA}" type="presOf" srcId="{CBBF1D43-21BB-410C-AC6C-70C1D793650C}" destId="{D0D498C8-D633-4DAB-A232-DDE8FFFB5F15}" srcOrd="0" destOrd="0" presId="urn:microsoft.com/office/officeart/2005/8/layout/cycle1"/>
    <dgm:cxn modelId="{A733A46A-4896-4752-9173-DAC184FAF02B}" type="presOf" srcId="{034CDE8E-B2A9-4E1E-B64A-904B09C20502}" destId="{420BD5EA-43B2-44FA-8803-BCC6A1A5A971}" srcOrd="0" destOrd="0" presId="urn:microsoft.com/office/officeart/2005/8/layout/cycle1"/>
    <dgm:cxn modelId="{F247B1B7-04EB-4A35-A411-4EEADA22E529}" type="presOf" srcId="{187513CB-0041-48B1-8C3C-3793F176A38C}" destId="{9777A358-330E-42F4-A39C-90DE533A7C5A}" srcOrd="0" destOrd="0" presId="urn:microsoft.com/office/officeart/2005/8/layout/cycle1"/>
    <dgm:cxn modelId="{A2BB935A-1673-4E24-9772-4C44973FA503}" srcId="{05E15462-8F3D-4C51-9038-72DEFD295ECB}" destId="{2876A3AF-B4F2-4DB1-8BAA-28B5221EB7CB}" srcOrd="8" destOrd="0" parTransId="{A54849D3-978E-4AEF-BE10-1000943F0C62}" sibTransId="{A2344B46-04F2-4FB8-876F-797A525BBF96}"/>
    <dgm:cxn modelId="{78994D67-6C56-42AA-9A92-74B9562778D0}" type="presOf" srcId="{3E45865D-2544-4A4A-824E-AB2F19DC12D1}" destId="{6E13AB0A-5338-43D8-B58F-44F7F16C54D7}" srcOrd="0" destOrd="0" presId="urn:microsoft.com/office/officeart/2005/8/layout/cycle1"/>
    <dgm:cxn modelId="{374C495C-83C5-49A4-B278-9D6EEC42597B}" type="presOf" srcId="{A7C14BFC-42FD-484E-A7DC-C81B0C13922D}" destId="{3B3F15E8-7D55-4FC5-BDE6-E09F64430BA7}" srcOrd="0" destOrd="0" presId="urn:microsoft.com/office/officeart/2005/8/layout/cycle1"/>
    <dgm:cxn modelId="{8E0B1759-B891-4C54-B572-0D751DB9C1B8}" type="presOf" srcId="{2643CB98-36A8-4012-B2DC-54D795A23F8E}" destId="{0D57837E-456A-47B7-93E4-3ADD42796347}" srcOrd="0" destOrd="0" presId="urn:microsoft.com/office/officeart/2005/8/layout/cycle1"/>
    <dgm:cxn modelId="{52915F01-4A3E-45AE-8B8A-7CF962986823}" type="presOf" srcId="{DDF5495A-ED8F-4CBF-90AA-52E91B0F974D}" destId="{30E18A30-8612-448E-9FCD-A4E8B810D55A}" srcOrd="0" destOrd="0" presId="urn:microsoft.com/office/officeart/2005/8/layout/cycle1"/>
    <dgm:cxn modelId="{BF7A8D97-B1E5-4353-B6B3-E3190750EA2D}" srcId="{05E15462-8F3D-4C51-9038-72DEFD295ECB}" destId="{6BE05E82-0788-434F-8F1F-766CCBB53E26}" srcOrd="7" destOrd="0" parTransId="{54298CCB-BB42-4CAF-810E-91D928F773ED}" sibTransId="{CBBF1D43-21BB-410C-AC6C-70C1D793650C}"/>
    <dgm:cxn modelId="{B84210D0-4EBE-49B8-B9AC-88A965777B26}" srcId="{05E15462-8F3D-4C51-9038-72DEFD295ECB}" destId="{187513CB-0041-48B1-8C3C-3793F176A38C}" srcOrd="2" destOrd="0" parTransId="{8949FE4E-3294-4BCB-911F-B885278D68F4}" sibTransId="{91AF92F1-664C-44A9-A9AF-60B4FDE9F772}"/>
    <dgm:cxn modelId="{CB50CC8D-C7D1-4E38-831E-CDEF86C13E8C}" type="presOf" srcId="{8EAD4F29-F68F-440D-BADC-DC6F8819E824}" destId="{AC31F8FC-833D-4CF5-AD19-1119055ECA89}" srcOrd="0" destOrd="0" presId="urn:microsoft.com/office/officeart/2005/8/layout/cycle1"/>
    <dgm:cxn modelId="{FB5EAD8E-F514-4B25-9D97-25E3EC28957C}" srcId="{05E15462-8F3D-4C51-9038-72DEFD295ECB}" destId="{A6444D54-FA08-4C85-877A-BC5406CF4EBD}" srcOrd="9" destOrd="0" parTransId="{C3CA1007-15D4-4A5A-8EF1-02556BC02816}" sibTransId="{39EECDCD-7E5A-49DB-BF25-D0428A85E907}"/>
    <dgm:cxn modelId="{DEF2CEB0-C617-492D-A263-09E9D26491AC}" type="presOf" srcId="{A2344B46-04F2-4FB8-876F-797A525BBF96}" destId="{B33A4974-B8FC-4117-BB7D-FCAC4975A154}" srcOrd="0" destOrd="0" presId="urn:microsoft.com/office/officeart/2005/8/layout/cycle1"/>
    <dgm:cxn modelId="{51B3C9F0-8E8E-4FE5-9511-181A3FB4A370}" srcId="{05E15462-8F3D-4C51-9038-72DEFD295ECB}" destId="{D45A3878-E47B-4C2C-B18F-233FC4AF1D5A}" srcOrd="3" destOrd="0" parTransId="{07C9023C-5154-403C-AB0D-AA5FE36D9AC7}" sibTransId="{8EAD4F29-F68F-440D-BADC-DC6F8819E824}"/>
    <dgm:cxn modelId="{5115A6E9-2FFF-47C6-AB56-15619D9E2535}" type="presOf" srcId="{898D1AD8-C62B-4760-BBB3-CFFA028EEDA8}" destId="{C5A28ECE-5F95-4A81-8113-75DC5544F906}" srcOrd="0" destOrd="0" presId="urn:microsoft.com/office/officeart/2005/8/layout/cycle1"/>
    <dgm:cxn modelId="{29E4F4D9-BDB9-46A2-8216-4521AB777B9D}" type="presOf" srcId="{B353A3A0-4BB2-47F8-8660-F5F68DEBB45B}" destId="{DC6AC8A5-37C0-4DE2-B2BE-410A5BFD8F16}" srcOrd="0" destOrd="0" presId="urn:microsoft.com/office/officeart/2005/8/layout/cycle1"/>
    <dgm:cxn modelId="{ACDF6AC7-CEC5-4AF3-A75A-6A31F2A785EF}" type="presParOf" srcId="{5724728F-2991-471C-8F3E-8655C7CF9A7F}" destId="{7553334A-46BC-496D-AD66-04BC3B4CFE45}" srcOrd="0" destOrd="0" presId="urn:microsoft.com/office/officeart/2005/8/layout/cycle1"/>
    <dgm:cxn modelId="{EA6E3C76-E4EE-40E5-86FA-548EA61427D0}" type="presParOf" srcId="{5724728F-2991-471C-8F3E-8655C7CF9A7F}" destId="{3B3F15E8-7D55-4FC5-BDE6-E09F64430BA7}" srcOrd="1" destOrd="0" presId="urn:microsoft.com/office/officeart/2005/8/layout/cycle1"/>
    <dgm:cxn modelId="{42A3FE92-F76A-4503-9DE0-6028E5F680CC}" type="presParOf" srcId="{5724728F-2991-471C-8F3E-8655C7CF9A7F}" destId="{6E13AB0A-5338-43D8-B58F-44F7F16C54D7}" srcOrd="2" destOrd="0" presId="urn:microsoft.com/office/officeart/2005/8/layout/cycle1"/>
    <dgm:cxn modelId="{8CECE814-F829-4F0B-B63D-580B5AB9E4B5}" type="presParOf" srcId="{5724728F-2991-471C-8F3E-8655C7CF9A7F}" destId="{01F90C7E-170C-408F-BBD0-08B3EC1512B8}" srcOrd="3" destOrd="0" presId="urn:microsoft.com/office/officeart/2005/8/layout/cycle1"/>
    <dgm:cxn modelId="{C1A7F984-5898-4694-B755-4F8BE6E61AE1}" type="presParOf" srcId="{5724728F-2991-471C-8F3E-8655C7CF9A7F}" destId="{420BD5EA-43B2-44FA-8803-BCC6A1A5A971}" srcOrd="4" destOrd="0" presId="urn:microsoft.com/office/officeart/2005/8/layout/cycle1"/>
    <dgm:cxn modelId="{21EB5A9E-B2B5-4D50-8E47-6AF0CEF0C951}" type="presParOf" srcId="{5724728F-2991-471C-8F3E-8655C7CF9A7F}" destId="{C5A28ECE-5F95-4A81-8113-75DC5544F906}" srcOrd="5" destOrd="0" presId="urn:microsoft.com/office/officeart/2005/8/layout/cycle1"/>
    <dgm:cxn modelId="{9DE33979-BA1E-4B2D-A468-291598E50DC4}" type="presParOf" srcId="{5724728F-2991-471C-8F3E-8655C7CF9A7F}" destId="{88C4B6AB-74EB-4C33-AEC2-F873BE56C77E}" srcOrd="6" destOrd="0" presId="urn:microsoft.com/office/officeart/2005/8/layout/cycle1"/>
    <dgm:cxn modelId="{16A5293D-2697-45E0-836E-800EE229FC4D}" type="presParOf" srcId="{5724728F-2991-471C-8F3E-8655C7CF9A7F}" destId="{9777A358-330E-42F4-A39C-90DE533A7C5A}" srcOrd="7" destOrd="0" presId="urn:microsoft.com/office/officeart/2005/8/layout/cycle1"/>
    <dgm:cxn modelId="{E7854888-197D-4FB3-B229-92DCB0AFBF62}" type="presParOf" srcId="{5724728F-2991-471C-8F3E-8655C7CF9A7F}" destId="{4CFAF20E-2CE9-410D-8C4F-99A003CC7A05}" srcOrd="8" destOrd="0" presId="urn:microsoft.com/office/officeart/2005/8/layout/cycle1"/>
    <dgm:cxn modelId="{1B0FD962-4907-44D5-B6DE-DF979D50A5E9}" type="presParOf" srcId="{5724728F-2991-471C-8F3E-8655C7CF9A7F}" destId="{14BA54F5-845B-4279-9CE6-EE3BF42F5D6D}" srcOrd="9" destOrd="0" presId="urn:microsoft.com/office/officeart/2005/8/layout/cycle1"/>
    <dgm:cxn modelId="{8CF9888E-45B8-4B98-B9EC-E658EEEC37CA}" type="presParOf" srcId="{5724728F-2991-471C-8F3E-8655C7CF9A7F}" destId="{9D700E5C-BD52-44F7-8383-C15FE2812038}" srcOrd="10" destOrd="0" presId="urn:microsoft.com/office/officeart/2005/8/layout/cycle1"/>
    <dgm:cxn modelId="{B58BE73F-EEB6-488D-959A-49766D4598D7}" type="presParOf" srcId="{5724728F-2991-471C-8F3E-8655C7CF9A7F}" destId="{AC31F8FC-833D-4CF5-AD19-1119055ECA89}" srcOrd="11" destOrd="0" presId="urn:microsoft.com/office/officeart/2005/8/layout/cycle1"/>
    <dgm:cxn modelId="{79CBFA1C-311D-4B28-B98E-7BA1E38B6EF2}" type="presParOf" srcId="{5724728F-2991-471C-8F3E-8655C7CF9A7F}" destId="{4196D907-CD02-48D9-B960-003FFDCA0085}" srcOrd="12" destOrd="0" presId="urn:microsoft.com/office/officeart/2005/8/layout/cycle1"/>
    <dgm:cxn modelId="{10248246-BD3B-4B8F-BDA9-E460461DEF0D}" type="presParOf" srcId="{5724728F-2991-471C-8F3E-8655C7CF9A7F}" destId="{DC19223B-BA97-489C-9FA1-B5820447A0A9}" srcOrd="13" destOrd="0" presId="urn:microsoft.com/office/officeart/2005/8/layout/cycle1"/>
    <dgm:cxn modelId="{00D0C89E-6487-41AF-89B2-81BAA9A5C84F}" type="presParOf" srcId="{5724728F-2991-471C-8F3E-8655C7CF9A7F}" destId="{08A8699B-3356-4B7B-86C7-BB255DDA25C7}" srcOrd="14" destOrd="0" presId="urn:microsoft.com/office/officeart/2005/8/layout/cycle1"/>
    <dgm:cxn modelId="{D29E6E53-DEAA-4BFB-B123-63E1FF75FD6F}" type="presParOf" srcId="{5724728F-2991-471C-8F3E-8655C7CF9A7F}" destId="{2D917792-A278-42C5-B9B9-E43B90B8C142}" srcOrd="15" destOrd="0" presId="urn:microsoft.com/office/officeart/2005/8/layout/cycle1"/>
    <dgm:cxn modelId="{3B57DB96-2E5B-4213-A787-E8A2278EAFD6}" type="presParOf" srcId="{5724728F-2991-471C-8F3E-8655C7CF9A7F}" destId="{2959AFB0-C8CA-4E0A-A53F-203C7FFFBF0A}" srcOrd="16" destOrd="0" presId="urn:microsoft.com/office/officeart/2005/8/layout/cycle1"/>
    <dgm:cxn modelId="{158AA726-3AC7-4010-9712-5BAEB248432A}" type="presParOf" srcId="{5724728F-2991-471C-8F3E-8655C7CF9A7F}" destId="{DC6AC8A5-37C0-4DE2-B2BE-410A5BFD8F16}" srcOrd="17" destOrd="0" presId="urn:microsoft.com/office/officeart/2005/8/layout/cycle1"/>
    <dgm:cxn modelId="{B26CA4EE-4BC9-4191-B5B2-36A5BC6B8E36}" type="presParOf" srcId="{5724728F-2991-471C-8F3E-8655C7CF9A7F}" destId="{2F0D8111-9349-4F5B-A135-6790DAD0F65C}" srcOrd="18" destOrd="0" presId="urn:microsoft.com/office/officeart/2005/8/layout/cycle1"/>
    <dgm:cxn modelId="{595C038B-43A5-4A98-AE66-15D9DBF5B31D}" type="presParOf" srcId="{5724728F-2991-471C-8F3E-8655C7CF9A7F}" destId="{30E18A30-8612-448E-9FCD-A4E8B810D55A}" srcOrd="19" destOrd="0" presId="urn:microsoft.com/office/officeart/2005/8/layout/cycle1"/>
    <dgm:cxn modelId="{BF610E1A-0900-4705-B4F0-CE1097412200}" type="presParOf" srcId="{5724728F-2991-471C-8F3E-8655C7CF9A7F}" destId="{0D57837E-456A-47B7-93E4-3ADD42796347}" srcOrd="20" destOrd="0" presId="urn:microsoft.com/office/officeart/2005/8/layout/cycle1"/>
    <dgm:cxn modelId="{F3F9EE08-9C0A-4C6B-8FCF-3DD4D5C54EA5}" type="presParOf" srcId="{5724728F-2991-471C-8F3E-8655C7CF9A7F}" destId="{C5460AA0-0973-44A5-A62B-DF756CD6918B}" srcOrd="21" destOrd="0" presId="urn:microsoft.com/office/officeart/2005/8/layout/cycle1"/>
    <dgm:cxn modelId="{3F580655-AAE4-481A-9CC1-BA57ADFC94E0}" type="presParOf" srcId="{5724728F-2991-471C-8F3E-8655C7CF9A7F}" destId="{BDBA44C2-FAC8-4B97-8397-316AEF75DF95}" srcOrd="22" destOrd="0" presId="urn:microsoft.com/office/officeart/2005/8/layout/cycle1"/>
    <dgm:cxn modelId="{73B482F3-F71A-4FD7-A616-7DDA92FD620D}" type="presParOf" srcId="{5724728F-2991-471C-8F3E-8655C7CF9A7F}" destId="{D0D498C8-D633-4DAB-A232-DDE8FFFB5F15}" srcOrd="23" destOrd="0" presId="urn:microsoft.com/office/officeart/2005/8/layout/cycle1"/>
    <dgm:cxn modelId="{693DCCA3-1A60-470E-9305-ACE9436D7D66}" type="presParOf" srcId="{5724728F-2991-471C-8F3E-8655C7CF9A7F}" destId="{61420328-E97A-4C20-AE5E-71DE1D92F3FB}" srcOrd="24" destOrd="0" presId="urn:microsoft.com/office/officeart/2005/8/layout/cycle1"/>
    <dgm:cxn modelId="{AC83E537-3737-4607-9E91-3B2D6D918E56}" type="presParOf" srcId="{5724728F-2991-471C-8F3E-8655C7CF9A7F}" destId="{FEF4C21C-9519-4E2B-BDEC-2672152CB9DB}" srcOrd="25" destOrd="0" presId="urn:microsoft.com/office/officeart/2005/8/layout/cycle1"/>
    <dgm:cxn modelId="{D7C7010B-526E-40F5-8F10-EA5FA1F80DDB}" type="presParOf" srcId="{5724728F-2991-471C-8F3E-8655C7CF9A7F}" destId="{B33A4974-B8FC-4117-BB7D-FCAC4975A154}" srcOrd="26" destOrd="0" presId="urn:microsoft.com/office/officeart/2005/8/layout/cycle1"/>
    <dgm:cxn modelId="{9540D18B-5467-42B9-B5C9-24120F0A979C}" type="presParOf" srcId="{5724728F-2991-471C-8F3E-8655C7CF9A7F}" destId="{DFE84411-DF4A-4838-B368-37F058FB850F}" srcOrd="27" destOrd="0" presId="urn:microsoft.com/office/officeart/2005/8/layout/cycle1"/>
    <dgm:cxn modelId="{F42BF2CD-CC08-4C70-A3B6-F564BE67AE16}" type="presParOf" srcId="{5724728F-2991-471C-8F3E-8655C7CF9A7F}" destId="{D5A464D3-EE9A-402A-B509-F4AF5037A84F}" srcOrd="28" destOrd="0" presId="urn:microsoft.com/office/officeart/2005/8/layout/cycle1"/>
    <dgm:cxn modelId="{53D42206-A4BD-42C0-9DB7-B7ACCE718096}" type="presParOf" srcId="{5724728F-2991-471C-8F3E-8655C7CF9A7F}" destId="{967C72B1-2C49-4884-AC8E-83A3A1C4B2E6}" srcOrd="29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F15E8-7D55-4FC5-BDE6-E09F64430BA7}">
      <dsp:nvSpPr>
        <dsp:cNvPr id="0" name=""/>
        <dsp:cNvSpPr/>
      </dsp:nvSpPr>
      <dsp:spPr>
        <a:xfrm>
          <a:off x="4010541" y="45565"/>
          <a:ext cx="1020287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1. ¿Quién es el Emprendedor?</a:t>
          </a:r>
        </a:p>
      </dsp:txBody>
      <dsp:txXfrm>
        <a:off x="4010541" y="45565"/>
        <a:ext cx="1020287" cy="633125"/>
      </dsp:txXfrm>
    </dsp:sp>
    <dsp:sp modelId="{6E13AB0A-5338-43D8-B58F-44F7F16C54D7}">
      <dsp:nvSpPr>
        <dsp:cNvPr id="0" name=""/>
        <dsp:cNvSpPr/>
      </dsp:nvSpPr>
      <dsp:spPr>
        <a:xfrm>
          <a:off x="1472072" y="205463"/>
          <a:ext cx="4945817" cy="4945817"/>
        </a:xfrm>
        <a:prstGeom prst="circularArrow">
          <a:avLst>
            <a:gd name="adj1" fmla="val 2496"/>
            <a:gd name="adj2" fmla="val 151214"/>
            <a:gd name="adj3" fmla="val 18366867"/>
            <a:gd name="adj4" fmla="val 17859524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BD5EA-43B2-44FA-8803-BCC6A1A5A971}">
      <dsp:nvSpPr>
        <dsp:cNvPr id="0" name=""/>
        <dsp:cNvSpPr/>
      </dsp:nvSpPr>
      <dsp:spPr>
        <a:xfrm>
          <a:off x="5124022" y="851153"/>
          <a:ext cx="1116243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2. Presenta el problema y/o necesidad</a:t>
          </a:r>
          <a:r>
            <a:rPr lang="es-ES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Josefin Sans" panose="00000500000000000000" pitchFamily="2" charset="0"/>
            </a:rPr>
            <a:t>.</a:t>
          </a:r>
          <a:endParaRPr lang="es-ES" sz="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124022" y="851153"/>
        <a:ext cx="1116243" cy="633125"/>
      </dsp:txXfrm>
    </dsp:sp>
    <dsp:sp modelId="{C5A28ECE-5F95-4A81-8113-75DC5544F906}">
      <dsp:nvSpPr>
        <dsp:cNvPr id="0" name=""/>
        <dsp:cNvSpPr/>
      </dsp:nvSpPr>
      <dsp:spPr>
        <a:xfrm>
          <a:off x="1398151" y="216715"/>
          <a:ext cx="4945817" cy="4945817"/>
        </a:xfrm>
        <a:prstGeom prst="circularArrow">
          <a:avLst>
            <a:gd name="adj1" fmla="val 2496"/>
            <a:gd name="adj2" fmla="val 151214"/>
            <a:gd name="adj3" fmla="val 20733607"/>
            <a:gd name="adj4" fmla="val 19738992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7A358-330E-42F4-A39C-90DE533A7C5A}">
      <dsp:nvSpPr>
        <dsp:cNvPr id="0" name=""/>
        <dsp:cNvSpPr/>
      </dsp:nvSpPr>
      <dsp:spPr>
        <a:xfrm>
          <a:off x="5734259" y="2206493"/>
          <a:ext cx="895650" cy="5074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3. ¿A quién le sirve lo que hago?</a:t>
          </a:r>
        </a:p>
      </dsp:txBody>
      <dsp:txXfrm>
        <a:off x="5734259" y="2206493"/>
        <a:ext cx="895650" cy="507481"/>
      </dsp:txXfrm>
    </dsp:sp>
    <dsp:sp modelId="{4CFAF20E-2CE9-410D-8C4F-99A003CC7A05}">
      <dsp:nvSpPr>
        <dsp:cNvPr id="0" name=""/>
        <dsp:cNvSpPr/>
      </dsp:nvSpPr>
      <dsp:spPr>
        <a:xfrm>
          <a:off x="1384342" y="-56839"/>
          <a:ext cx="4945817" cy="4945817"/>
        </a:xfrm>
        <a:prstGeom prst="circularArrow">
          <a:avLst>
            <a:gd name="adj1" fmla="val 2496"/>
            <a:gd name="adj2" fmla="val 151214"/>
            <a:gd name="adj3" fmla="val 1639053"/>
            <a:gd name="adj4" fmla="val 439009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00E5C-BD52-44F7-8383-C15FE2812038}">
      <dsp:nvSpPr>
        <dsp:cNvPr id="0" name=""/>
        <dsp:cNvSpPr/>
      </dsp:nvSpPr>
      <dsp:spPr>
        <a:xfrm>
          <a:off x="4881934" y="3579909"/>
          <a:ext cx="1600419" cy="67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4. Explica la solución presentando los resultados de la validación y tu Producto Mínimo Viable</a:t>
          </a:r>
        </a:p>
      </dsp:txBody>
      <dsp:txXfrm>
        <a:off x="4881934" y="3579909"/>
        <a:ext cx="1600419" cy="675310"/>
      </dsp:txXfrm>
    </dsp:sp>
    <dsp:sp modelId="{AC31F8FC-833D-4CF5-AD19-1119055ECA89}">
      <dsp:nvSpPr>
        <dsp:cNvPr id="0" name=""/>
        <dsp:cNvSpPr/>
      </dsp:nvSpPr>
      <dsp:spPr>
        <a:xfrm>
          <a:off x="1316814" y="69731"/>
          <a:ext cx="4945817" cy="4945817"/>
        </a:xfrm>
        <a:prstGeom prst="circularArrow">
          <a:avLst>
            <a:gd name="adj1" fmla="val 2496"/>
            <a:gd name="adj2" fmla="val 151214"/>
            <a:gd name="adj3" fmla="val 3257886"/>
            <a:gd name="adj4" fmla="val 2823936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9223B-BA97-489C-9FA1-B5820447A0A9}">
      <dsp:nvSpPr>
        <dsp:cNvPr id="0" name=""/>
        <dsp:cNvSpPr/>
      </dsp:nvSpPr>
      <dsp:spPr>
        <a:xfrm>
          <a:off x="3955192" y="4450752"/>
          <a:ext cx="1114743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5. Focaliza la atención en la oportunidad del negocio. </a:t>
          </a:r>
        </a:p>
      </dsp:txBody>
      <dsp:txXfrm>
        <a:off x="3955192" y="4450752"/>
        <a:ext cx="1114743" cy="633125"/>
      </dsp:txXfrm>
    </dsp:sp>
    <dsp:sp modelId="{08A8699B-3356-4B7B-86C7-BB255DDA25C7}">
      <dsp:nvSpPr>
        <dsp:cNvPr id="0" name=""/>
        <dsp:cNvSpPr/>
      </dsp:nvSpPr>
      <dsp:spPr>
        <a:xfrm>
          <a:off x="1316814" y="69731"/>
          <a:ext cx="4945817" cy="4945817"/>
        </a:xfrm>
        <a:prstGeom prst="circularArrow">
          <a:avLst>
            <a:gd name="adj1" fmla="val 2496"/>
            <a:gd name="adj2" fmla="val 151214"/>
            <a:gd name="adj3" fmla="val 5506753"/>
            <a:gd name="adj4" fmla="val 5156616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9AFB0-C8CA-4E0A-A53F-203C7FFFBF0A}">
      <dsp:nvSpPr>
        <dsp:cNvPr id="0" name=""/>
        <dsp:cNvSpPr/>
      </dsp:nvSpPr>
      <dsp:spPr>
        <a:xfrm>
          <a:off x="2519407" y="4450752"/>
          <a:ext cx="1094951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6. Presenta los momentos claves  de tu  idea de negocios. </a:t>
          </a:r>
        </a:p>
      </dsp:txBody>
      <dsp:txXfrm>
        <a:off x="2519407" y="4450752"/>
        <a:ext cx="1094951" cy="633125"/>
      </dsp:txXfrm>
    </dsp:sp>
    <dsp:sp modelId="{DC6AC8A5-37C0-4DE2-B2BE-410A5BFD8F16}">
      <dsp:nvSpPr>
        <dsp:cNvPr id="0" name=""/>
        <dsp:cNvSpPr/>
      </dsp:nvSpPr>
      <dsp:spPr>
        <a:xfrm>
          <a:off x="808780" y="167782"/>
          <a:ext cx="5961885" cy="4749715"/>
        </a:xfrm>
        <a:prstGeom prst="circularArrow">
          <a:avLst>
            <a:gd name="adj1" fmla="val 2496"/>
            <a:gd name="adj2" fmla="val 151214"/>
            <a:gd name="adj3" fmla="val 7870041"/>
            <a:gd name="adj4" fmla="val 7373552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18A30-8612-448E-9FCD-A4E8B810D55A}">
      <dsp:nvSpPr>
        <dsp:cNvPr id="0" name=""/>
        <dsp:cNvSpPr/>
      </dsp:nvSpPr>
      <dsp:spPr>
        <a:xfrm>
          <a:off x="1271252" y="3601002"/>
          <a:ext cx="1252099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7. Presente el análisis realizado a la competencia.</a:t>
          </a:r>
        </a:p>
      </dsp:txBody>
      <dsp:txXfrm>
        <a:off x="1271252" y="3601002"/>
        <a:ext cx="1252099" cy="633125"/>
      </dsp:txXfrm>
    </dsp:sp>
    <dsp:sp modelId="{0D57837E-456A-47B7-93E4-3ADD42796347}">
      <dsp:nvSpPr>
        <dsp:cNvPr id="0" name=""/>
        <dsp:cNvSpPr/>
      </dsp:nvSpPr>
      <dsp:spPr>
        <a:xfrm>
          <a:off x="1316814" y="69731"/>
          <a:ext cx="4945817" cy="4945817"/>
        </a:xfrm>
        <a:prstGeom prst="circularArrow">
          <a:avLst>
            <a:gd name="adj1" fmla="val 2496"/>
            <a:gd name="adj2" fmla="val 151214"/>
            <a:gd name="adj3" fmla="val 10182118"/>
            <a:gd name="adj4" fmla="val 9185927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A44C2-FAC8-4B97-8397-316AEF75DF95}">
      <dsp:nvSpPr>
        <dsp:cNvPr id="0" name=""/>
        <dsp:cNvSpPr/>
      </dsp:nvSpPr>
      <dsp:spPr>
        <a:xfrm>
          <a:off x="769693" y="2226077"/>
          <a:ext cx="1361738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8. Describe la estrategia de mercado y canales de ventas.</a:t>
          </a:r>
        </a:p>
      </dsp:txBody>
      <dsp:txXfrm>
        <a:off x="769693" y="2226077"/>
        <a:ext cx="1361738" cy="633125"/>
      </dsp:txXfrm>
    </dsp:sp>
    <dsp:sp modelId="{D0D498C8-D633-4DAB-A232-DDE8FFFB5F15}">
      <dsp:nvSpPr>
        <dsp:cNvPr id="0" name=""/>
        <dsp:cNvSpPr/>
      </dsp:nvSpPr>
      <dsp:spPr>
        <a:xfrm>
          <a:off x="1316814" y="69731"/>
          <a:ext cx="4945817" cy="4945817"/>
        </a:xfrm>
        <a:prstGeom prst="circularArrow">
          <a:avLst>
            <a:gd name="adj1" fmla="val 2496"/>
            <a:gd name="adj2" fmla="val 151214"/>
            <a:gd name="adj3" fmla="val 12262859"/>
            <a:gd name="adj4" fmla="val 11266668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4C21C-9519-4E2B-BDEC-2672152CB9DB}">
      <dsp:nvSpPr>
        <dsp:cNvPr id="0" name=""/>
        <dsp:cNvSpPr/>
      </dsp:nvSpPr>
      <dsp:spPr>
        <a:xfrm>
          <a:off x="1217541" y="851153"/>
          <a:ext cx="1359522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9. Presente las cifras de tu modelo de negocio . </a:t>
          </a:r>
        </a:p>
      </dsp:txBody>
      <dsp:txXfrm>
        <a:off x="1217541" y="851153"/>
        <a:ext cx="1359522" cy="633125"/>
      </dsp:txXfrm>
    </dsp:sp>
    <dsp:sp modelId="{B33A4974-B8FC-4117-BB7D-FCAC4975A154}">
      <dsp:nvSpPr>
        <dsp:cNvPr id="0" name=""/>
        <dsp:cNvSpPr/>
      </dsp:nvSpPr>
      <dsp:spPr>
        <a:xfrm>
          <a:off x="1320547" y="66158"/>
          <a:ext cx="4945817" cy="4945817"/>
        </a:xfrm>
        <a:prstGeom prst="circularArrow">
          <a:avLst>
            <a:gd name="adj1" fmla="val 2496"/>
            <a:gd name="adj2" fmla="val 151214"/>
            <a:gd name="adj3" fmla="val 14209298"/>
            <a:gd name="adj4" fmla="val 13571152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464D3-EE9A-402A-B509-F4AF5037A84F}">
      <dsp:nvSpPr>
        <dsp:cNvPr id="0" name=""/>
        <dsp:cNvSpPr/>
      </dsp:nvSpPr>
      <dsp:spPr>
        <a:xfrm>
          <a:off x="2600683" y="0"/>
          <a:ext cx="933428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10. Cuenta tu historia y la de tu equipo</a:t>
          </a:r>
        </a:p>
      </dsp:txBody>
      <dsp:txXfrm>
        <a:off x="2600683" y="0"/>
        <a:ext cx="933428" cy="633125"/>
      </dsp:txXfrm>
    </dsp:sp>
    <dsp:sp modelId="{967C72B1-2C49-4884-AC8E-83A3A1C4B2E6}">
      <dsp:nvSpPr>
        <dsp:cNvPr id="0" name=""/>
        <dsp:cNvSpPr/>
      </dsp:nvSpPr>
      <dsp:spPr>
        <a:xfrm>
          <a:off x="1118318" y="81859"/>
          <a:ext cx="4945817" cy="4945817"/>
        </a:xfrm>
        <a:prstGeom prst="circularArrow">
          <a:avLst>
            <a:gd name="adj1" fmla="val 2496"/>
            <a:gd name="adj2" fmla="val 151214"/>
            <a:gd name="adj3" fmla="val 16668381"/>
            <a:gd name="adj4" fmla="val 16116054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7C2B9-A3C0-3F49-A929-98DE2EB18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F98F89-F358-BEE2-10AC-1B5608F7D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6A6F2-5E1E-58BE-DD4E-A89A5CF2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3BCDCC-EF4B-132E-164D-50C81B33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B7D1C1-7DF2-B065-8B70-373D80F1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806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4BF04-BC84-4D95-F344-B6ADE462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919B0E-9FCF-AD24-9A86-EECFA760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1E90CA-CCF7-AF7B-8E42-916254FE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F6EE68-D918-D87D-E9C7-28201255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1B4364-A7EF-9E5A-3C07-3BD625CA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309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7F4E5-65E9-4DCB-5813-11D40A68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E6E644-237F-6D49-DA57-B57B3BBB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B545FA-D9BC-F6CC-01F2-EC4EB678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AAFA57-92E9-D029-BF63-94D6919A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E931FF-AEDD-4B5A-D478-3DB3B8B2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173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69D6E-AEC6-A2B8-B59E-5DB0F9B5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31608B-0384-3E7A-B8D6-2A52325DF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273D2B-F3A8-FB58-18D9-F5068BA48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E4F976-11CB-79BF-214C-0071237D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003339-B8E7-9D71-E950-B547A33D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FD40A3-05F2-392C-6923-BCDE575F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945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86914-9EDC-AEAF-D031-1D560DD8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41C626-84CD-BC0D-9C35-04284B71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89DC2F-1C18-A076-BE46-192B8920A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A5F390-9FC1-3488-3B83-0CD0AF245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E4E63D-621C-22C6-777F-BA448BF22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4BDE20-7B21-F69C-BC54-4122C07D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0FEE19-0D94-58A1-0405-1CF1BFC4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319D5D2-F330-EBC3-9161-09DA3294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31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F5F5C-02FC-11D4-8619-EDFD4611F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DB56A3-D667-2BA7-549C-BF7B273D0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D4DCD2-A3C9-A669-3A1D-20AD0575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93343B-74E7-29AE-F2EE-E7DEE846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957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35C7A11-6C65-84A8-169A-96059DCD2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50429D-940D-5BE3-3558-B664A9102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81CCED-9D8B-B6CC-C55F-7F250E9D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123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D89B-56E4-0058-6FA9-2BE3A908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DAFF0-CC4F-5A73-4B4F-048CF75F7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9E8767-7B68-06B7-0DED-1C56B433C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84DEBB-CF09-441D-DC11-35244669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98DB75-3793-677F-F3DE-83FF47A9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237BB6-728D-09F0-A5B4-40B5B31A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034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6C7DB-3D55-FA7A-DD63-0B4868D7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2B65EFB-08C9-C03D-6381-FCCBD8859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B21E7A-9F60-4D07-D021-A54EFDCBB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CF53C6-1A6E-153D-8DA1-96D7BE8DB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815E61-6DD1-8BF3-2732-6510F0E5C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7CDA1B-EEA6-EC90-0F9A-D29C3738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801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C74E8-8D50-A408-EB11-5EB1690F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D300A0-8994-FBA8-1212-854C4FA0A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F54AB8-58AA-7886-0200-97BC8602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71A075-283B-B5BD-7DB9-CF55CEAA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373C84-EBC4-54AD-FAA1-D0081C7E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544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46E24A-D0F6-B6A5-B764-D45640C34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FDEA98-3C82-6DE3-5415-5E6D0EB26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A1B1C-6561-4BDB-50C3-CBEEA178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215247-C8B3-3B38-CF02-7904500C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D74D78-1B95-A6CB-71EF-55CCFBDC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18890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43DB46-ED05-FB6B-F5E5-24E3CBCC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9A94C8-1E43-77A1-95CB-5765E3F9E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322E30-0248-4874-9183-C8457781F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2FF9A-23E1-4EAD-A118-A77F41DDE3B1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4CCF7-DE44-E698-53B0-0E7771116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3D9EF5-7956-D282-C76A-77B893F1F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983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1.jpeg"/><Relationship Id="rId8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6EF150D-52E9-3D6F-B04A-FBAFEC345281}"/>
              </a:ext>
            </a:extLst>
          </p:cNvPr>
          <p:cNvGrpSpPr/>
          <p:nvPr/>
        </p:nvGrpSpPr>
        <p:grpSpPr>
          <a:xfrm>
            <a:off x="1701296" y="886359"/>
            <a:ext cx="7346403" cy="5085281"/>
            <a:chOff x="1507958" y="744621"/>
            <a:chExt cx="6096000" cy="4064000"/>
          </a:xfrm>
        </p:grpSpPr>
        <p:graphicFrame>
          <p:nvGraphicFramePr>
            <p:cNvPr id="5" name="Diagrama 4">
              <a:extLst>
                <a:ext uri="{FF2B5EF4-FFF2-40B4-BE49-F238E27FC236}">
                  <a16:creationId xmlns:a16="http://schemas.microsoft.com/office/drawing/2014/main" id="{3341756E-7597-16EF-59CC-8A10C90D31E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62481403"/>
                </p:ext>
              </p:extLst>
            </p:nvPr>
          </p:nvGraphicFramePr>
          <p:xfrm>
            <a:off x="1507958" y="744621"/>
            <a:ext cx="60960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6" name="Picture 2" descr="$4.800 millones del Fondo Emprender del SENA para promover emprendimiento -  hoyennoticia.com">
              <a:extLst>
                <a:ext uri="{FF2B5EF4-FFF2-40B4-BE49-F238E27FC236}">
                  <a16:creationId xmlns:a16="http://schemas.microsoft.com/office/drawing/2014/main" id="{A570B468-CFBB-3D68-1762-75933DA3FE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058"/>
            <a:stretch/>
          </p:blipFill>
          <p:spPr bwMode="auto">
            <a:xfrm>
              <a:off x="3776662" y="1840959"/>
              <a:ext cx="1590676" cy="177792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Google Shape;184;gd04e5b107f_0_20">
            <a:extLst>
              <a:ext uri="{FF2B5EF4-FFF2-40B4-BE49-F238E27FC236}">
                <a16:creationId xmlns:a16="http://schemas.microsoft.com/office/drawing/2014/main" id="{B2F39D1A-8EF4-CC0A-65FF-F80BD685C6E0}"/>
              </a:ext>
            </a:extLst>
          </p:cNvPr>
          <p:cNvSpPr txBox="1"/>
          <p:nvPr/>
        </p:nvSpPr>
        <p:spPr>
          <a:xfrm>
            <a:off x="1469588" y="173192"/>
            <a:ext cx="780982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400"/>
            </a:pPr>
            <a:r>
              <a:rPr sz="2200" b="1">
                <a:solidFill>
                  <a:srgbClr val="00B050"/>
                </a:solidFill>
                <a:latin typeface="Josefin Sans"/>
              </a:rPr>
              <a:t>PRESENTACIÓN FINAL: TALENTLAB S.A.S.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B8BB5D-87DF-85A1-8937-B9A52CD89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ApprenticeInfoBox"/>
          <p:cNvSpPr txBox="1"/>
          <p:nvPr/>
        </p:nvSpPr>
        <p:spPr>
          <a:xfrm>
            <a:off x="1463040" y="5943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23232"/>
                </a:solidFill>
                <a:latin typeface="Josefin Sans"/>
              </a:rPr>
              <a:t>Sistema Predictivo de Retención y Entrenamiento con IA | ADSO Ficha 2996897
Aprendiz: Diego Alfonso Tapia Salazar | Instructor Líder: John Fernando Méndez Medina</a:t>
            </a:r>
          </a:p>
        </p:txBody>
      </p:sp>
    </p:spTree>
    <p:extLst>
      <p:ext uri="{BB962C8B-B14F-4D97-AF65-F5344CB8AC3E}">
        <p14:creationId xmlns:p14="http://schemas.microsoft.com/office/powerpoint/2010/main" val="2418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85A88E-A6BC-59DA-951D-BBF16001A2BB}"/>
              </a:ext>
            </a:extLst>
          </p:cNvPr>
          <p:cNvSpPr txBox="1"/>
          <p:nvPr/>
        </p:nvSpPr>
        <p:spPr>
          <a:xfrm>
            <a:off x="427354" y="249296"/>
            <a:ext cx="66049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B050"/>
                </a:solidFill>
                <a:latin typeface="Josefin Sans" panose="00000500000000000000" pitchFamily="2" charset="0"/>
              </a:rPr>
              <a:t> 1. “Quien soy yo”</a:t>
            </a:r>
          </a:p>
          <a:p>
            <a:r>
              <a:rPr lang="es-CO" sz="2400" b="1" dirty="0">
                <a:solidFill>
                  <a:srgbClr val="00B050"/>
                </a:solidFill>
                <a:latin typeface="Josefin Sans" panose="00000500000000000000" pitchFamily="2" charset="0"/>
              </a:rPr>
              <a:t>(Presentación del Emprendedor)</a:t>
            </a:r>
            <a:endParaRPr lang="es-CO" sz="24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B7E99D-9B61-D028-C712-7A62D7F4173C}"/>
              </a:ext>
            </a:extLst>
          </p:cNvPr>
          <p:cNvSpPr txBox="1"/>
          <p:nvPr/>
        </p:nvSpPr>
        <p:spPr>
          <a:xfrm>
            <a:off x="874530" y="1401866"/>
            <a:ext cx="433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800" dirty="0"/>
          </a:p>
          <a:p>
            <a:endParaRPr lang="es-CO" sz="180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4411E81-58DC-4BAF-A92E-A8CC972979F6}"/>
              </a:ext>
            </a:extLst>
          </p:cNvPr>
          <p:cNvCxnSpPr>
            <a:cxnSpLocks/>
          </p:cNvCxnSpPr>
          <p:nvPr/>
        </p:nvCxnSpPr>
        <p:spPr>
          <a:xfrm>
            <a:off x="427354" y="1269477"/>
            <a:ext cx="3028205" cy="0"/>
          </a:xfrm>
          <a:prstGeom prst="line">
            <a:avLst/>
          </a:prstGeom>
          <a:ln w="12700" cmpd="sng">
            <a:solidFill>
              <a:srgbClr val="FFB6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Primer Plano, De, Mano Humana">
            <a:extLst>
              <a:ext uri="{FF2B5EF4-FFF2-40B4-BE49-F238E27FC236}">
                <a16:creationId xmlns:a16="http://schemas.microsoft.com/office/drawing/2014/main" id="{52B1F841-6C16-EEAE-014D-C52589575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565" y="2198439"/>
            <a:ext cx="4123951" cy="274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28E093B-7D1A-CF30-2129-9B73858E5B70}"/>
              </a:ext>
            </a:extLst>
          </p:cNvPr>
          <p:cNvSpPr txBox="1"/>
          <p:nvPr/>
        </p:nvSpPr>
        <p:spPr>
          <a:xfrm>
            <a:off x="427354" y="1460208"/>
            <a:ext cx="4471039" cy="4359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600" b="1" i="0">
                <a:solidFill>
                  <a:srgbClr val="00B050"/>
                </a:solidFill>
                <a:latin typeface="Josefin Sans"/>
              </a:rPr>
              <a:t>Diego Alfonso Tapia Salazar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300" b="1" i="0">
                <a:solidFill>
                  <a:srgbClr val="323232"/>
                </a:solidFill>
                <a:latin typeface="Josefin Sans"/>
              </a:rPr>
              <a:t>Tecnólogo en Análisis y Desarrollo de Software (ADSO) – SENA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• Perfil y Pasión: Desarrollador enfocado en soluciones tecnológicas que generen impacto social real mediante la inteligencia artificial y el análisis de datos.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• Mi Motivación: Durante mi formación viví de cerca cómo compañeros con enorme talento abandonaron sus carreras técnicas debido a dificultades socioeconómicas no atendidas a tiempo y falta de orientación laboral.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• Mi Propósito: Crear TalentLab como una herramienta de equidad y acompañamiento para que ninguna institución pierda estudiantes por falta de alertas tempranas.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30 segundos)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1F927EC-5919-905A-EB8F-C00E75B7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35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25591E9-1C99-1E22-508C-2ED85BB92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F39A796-D779-1B59-61DD-A2AA39B273A9}"/>
              </a:ext>
            </a:extLst>
          </p:cNvPr>
          <p:cNvSpPr txBox="1"/>
          <p:nvPr/>
        </p:nvSpPr>
        <p:spPr>
          <a:xfrm>
            <a:off x="427354" y="249296"/>
            <a:ext cx="66049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B050"/>
                </a:solidFill>
                <a:latin typeface="Josefin Sans" panose="00000500000000000000" pitchFamily="2" charset="0"/>
              </a:rPr>
              <a:t> 2. “Poseemos problemas”</a:t>
            </a:r>
          </a:p>
          <a:p>
            <a:r>
              <a:rPr lang="es-CO" sz="2400" b="1" dirty="0">
                <a:solidFill>
                  <a:srgbClr val="00B050"/>
                </a:solidFill>
                <a:latin typeface="Josefin Sans" panose="00000500000000000000" pitchFamily="2" charset="0"/>
              </a:rPr>
              <a:t>(Problema o Necesidad)</a:t>
            </a:r>
            <a:endParaRPr lang="es-CO" sz="24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AB4EC6-CAD9-437C-6A78-6CC3775AC2CD}"/>
              </a:ext>
            </a:extLst>
          </p:cNvPr>
          <p:cNvSpPr txBox="1"/>
          <p:nvPr/>
        </p:nvSpPr>
        <p:spPr>
          <a:xfrm>
            <a:off x="874530" y="1401866"/>
            <a:ext cx="433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800" dirty="0"/>
          </a:p>
          <a:p>
            <a:endParaRPr lang="es-CO" sz="1800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FD45577-81C7-91C9-BE7F-81B86DAE450F}"/>
              </a:ext>
            </a:extLst>
          </p:cNvPr>
          <p:cNvCxnSpPr>
            <a:cxnSpLocks/>
          </p:cNvCxnSpPr>
          <p:nvPr/>
        </p:nvCxnSpPr>
        <p:spPr>
          <a:xfrm>
            <a:off x="427354" y="1269477"/>
            <a:ext cx="3028205" cy="0"/>
          </a:xfrm>
          <a:prstGeom prst="line">
            <a:avLst/>
          </a:prstGeom>
          <a:ln w="12700" cmpd="sng">
            <a:solidFill>
              <a:srgbClr val="FFB6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1ADAF66-BBF4-2551-FEBA-8696230E3334}"/>
              </a:ext>
            </a:extLst>
          </p:cNvPr>
          <p:cNvSpPr txBox="1"/>
          <p:nvPr/>
        </p:nvSpPr>
        <p:spPr>
          <a:xfrm>
            <a:off x="427354" y="1460208"/>
            <a:ext cx="4471039" cy="5808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350" b="1" i="0">
                <a:solidFill>
                  <a:srgbClr val="00B050"/>
                </a:solidFill>
                <a:latin typeface="Josefin Sans"/>
              </a:rPr>
              <a:t>¿Sabían que en Colombia más del 33% de los estudiantes técnicos y tecnológicos desertan antes de graduarse? (SPADIES / MEN)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1" i="0">
                <a:solidFill>
                  <a:srgbClr val="323232"/>
                </a:solidFill>
                <a:latin typeface="Josefin Sans"/>
              </a:rPr>
              <a:t>Los 3 Dolores Críticos Identificados: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1. Deserción Silenciosa: Los factores de riesgo académico y socioeconómico se detectan cuando el estudiante ya abandonó el aula.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2. Brecha de Empleabilidad ('Job Readiness'): Los egresados carecen de entrenamiento real para superar entrevistas técnicas y blandas.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3. Desconexión con Egresados: La experiencia y capital social de los graduados se encuentra desarticulado y desaprovechado.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Alternativas Actuales: Plataformas LMS (Moodle, Q10) meramente administrativas, sin analítica predictiva ni simuladores adaptados.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1 minuto)</a:t>
            </a:r>
          </a:p>
        </p:txBody>
      </p:sp>
      <p:pic>
        <p:nvPicPr>
          <p:cNvPr id="9" name="Picture 2" descr="Persona Con Dificultad Y Preguntas En Estudios">
            <a:extLst>
              <a:ext uri="{FF2B5EF4-FFF2-40B4-BE49-F238E27FC236}">
                <a16:creationId xmlns:a16="http://schemas.microsoft.com/office/drawing/2014/main" id="{ED239977-F1E7-EB39-9979-DF6ECDDD0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372" y="268331"/>
            <a:ext cx="4222029" cy="632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38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00BEBD4-BD45-1F5F-58B1-C7EC10C63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E565427-C35C-C4BC-80D7-BDEEBD856B23}"/>
              </a:ext>
            </a:extLst>
          </p:cNvPr>
          <p:cNvSpPr txBox="1"/>
          <p:nvPr/>
        </p:nvSpPr>
        <p:spPr>
          <a:xfrm>
            <a:off x="427354" y="1460208"/>
            <a:ext cx="4471039" cy="406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400" b="1" i="0">
                <a:solidFill>
                  <a:srgbClr val="00B050"/>
                </a:solidFill>
                <a:latin typeface="Josefin Sans"/>
              </a:rPr>
              <a:t>El Protagonista: Directores de Bienestar y Rectores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Cliente B2B (Decisor de Compra): Instituciones privadas de educación técnica, tecnológica e IES intermedias en Colombia.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La Necesidad del Cliente: Evitar pérdidas millonarias en matrículas ($3M a $6M COP por alumno desertado) y asegurar la acreditación de calidad ante el MEN.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323232"/>
                </a:solidFill>
                <a:latin typeface="Josefin Sans"/>
              </a:rPr>
              <a:t>Usuarios Finales y Beneficiarios (B2C):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Estudiantes Activos: Reciben alertas tempranas, orientación preventiva y simulan entrevistas laborales con retroalimentación instantánea.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Egresados: Canal activo de mentoría y networking formativo.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Early Adopters: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80 IES técnicas y tecnológicas en Bogotá y Cundinamarca con alta deserción en los primeros 3 semestres.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1 minuto)</a:t>
            </a:r>
          </a:p>
        </p:txBody>
      </p:sp>
      <p:pic>
        <p:nvPicPr>
          <p:cNvPr id="6" name="Picture 2" descr="Grupo De Personas De Pie Junto Al Cuerpo De Agua">
            <a:extLst>
              <a:ext uri="{FF2B5EF4-FFF2-40B4-BE49-F238E27FC236}">
                <a16:creationId xmlns:a16="http://schemas.microsoft.com/office/drawing/2014/main" id="{693E4186-FD37-0EC8-F85D-62F35F6B7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071" y="1649398"/>
            <a:ext cx="5184396" cy="335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7587EB4-03EB-6640-8BB4-DCAE473343FD}"/>
              </a:ext>
            </a:extLst>
          </p:cNvPr>
          <p:cNvSpPr txBox="1"/>
          <p:nvPr/>
        </p:nvSpPr>
        <p:spPr>
          <a:xfrm>
            <a:off x="1017165" y="445379"/>
            <a:ext cx="6094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rgbClr val="00B050"/>
                </a:solidFill>
                <a:latin typeface="Josefin Sans" panose="00000500000000000000" pitchFamily="2" charset="0"/>
              </a:rPr>
              <a:t> </a:t>
            </a:r>
            <a:r>
              <a:rPr lang="es-CO" sz="2000" b="1" dirty="0">
                <a:solidFill>
                  <a:srgbClr val="00B050"/>
                </a:solidFill>
                <a:latin typeface="Josefin Sans" panose="00000500000000000000" pitchFamily="2" charset="0"/>
              </a:rPr>
              <a:t>3. “A quien le sirve lo que hago”</a:t>
            </a:r>
          </a:p>
          <a:p>
            <a:r>
              <a:rPr lang="es-CO" sz="2000" b="1" dirty="0">
                <a:solidFill>
                  <a:srgbClr val="00B050"/>
                </a:solidFill>
                <a:latin typeface="Josefin Sans" panose="00000500000000000000" pitchFamily="2" charset="0"/>
              </a:rPr>
              <a:t> Cuente acerca del protagonista</a:t>
            </a:r>
          </a:p>
        </p:txBody>
      </p:sp>
    </p:spTree>
    <p:extLst>
      <p:ext uri="{BB962C8B-B14F-4D97-AF65-F5344CB8AC3E}">
        <p14:creationId xmlns:p14="http://schemas.microsoft.com/office/powerpoint/2010/main" val="333777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22A52BD-4F73-81CD-E71B-95167581E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1A26676-B25E-6AE6-4EFC-430FA882C922}"/>
              </a:ext>
            </a:extLst>
          </p:cNvPr>
          <p:cNvSpPr txBox="1"/>
          <p:nvPr/>
        </p:nvSpPr>
        <p:spPr>
          <a:xfrm>
            <a:off x="983609" y="673681"/>
            <a:ext cx="609460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>
                <a:solidFill>
                  <a:srgbClr val="00B050"/>
                </a:solidFill>
                <a:latin typeface="Josefin Sans" panose="00000500000000000000" pitchFamily="2" charset="0"/>
              </a:rPr>
              <a:t>4. “Se le tiene”</a:t>
            </a:r>
          </a:p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(Solución - Propuesta de Valor)</a:t>
            </a:r>
            <a:endParaRPr lang="es-CO" dirty="0">
              <a:solidFill>
                <a:srgbClr val="00B05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67FA2C-2F62-407B-5362-4D824CD617B9}"/>
              </a:ext>
            </a:extLst>
          </p:cNvPr>
          <p:cNvSpPr txBox="1"/>
          <p:nvPr/>
        </p:nvSpPr>
        <p:spPr>
          <a:xfrm>
            <a:off x="622883" y="2151357"/>
            <a:ext cx="6094602" cy="21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500" b="1" i="0">
                <a:solidFill>
                  <a:srgbClr val="00B050"/>
                </a:solidFill>
                <a:latin typeface="Josefin Sans"/>
              </a:rPr>
              <a:t>"Detecta. Prepara. Conecta." – Propuesta de Valor Única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350" b="1" i="0">
                <a:solidFill>
                  <a:srgbClr val="323232"/>
                </a:solidFill>
                <a:latin typeface="Josefin Sans"/>
              </a:rPr>
              <a:t>Los 3 Pilares de la Plataforma TalentLab: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1. Semáforo Predictivo de Deserción: Algoritmo Random Forest de Machine Learning que analiza notas, asistencia y variables socioeconómicas en tiempo real.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2. Simulador de Entrevistas con IA: Asistente conversacional NLP que entrena habilidades técnicas y conductuales con feedback inmediato en español.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3. Red Multi-tenant de Mentorías: Matching inteligente entre estudiantes activos y egresados para mentoría guiada.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323232"/>
                </a:solidFill>
                <a:latin typeface="Josefin Sans"/>
              </a:rPr>
              <a:t>Factor Innovador y Diferenciador: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Plataforma unificada en la nube bajo arquitectura serverless (&lt;$0.05 USD anual por alumno), 100% contextualizada al entorno colombiano.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1 minuto)</a:t>
            </a:r>
          </a:p>
        </p:txBody>
      </p:sp>
      <p:pic>
        <p:nvPicPr>
          <p:cNvPr id="9" name="Picture 2" descr="Mujer Dibuja Una Bombilla En Pizarra Blanca">
            <a:extLst>
              <a:ext uri="{FF2B5EF4-FFF2-40B4-BE49-F238E27FC236}">
                <a16:creationId xmlns:a16="http://schemas.microsoft.com/office/drawing/2014/main" id="{A07239EC-C065-52DF-70A3-A9CB5A404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898" y="973123"/>
            <a:ext cx="355432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86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28E37EB-21E5-6EF6-5FBA-3DBF718F2559}"/>
              </a:ext>
            </a:extLst>
          </p:cNvPr>
          <p:cNvSpPr txBox="1"/>
          <p:nvPr/>
        </p:nvSpPr>
        <p:spPr>
          <a:xfrm>
            <a:off x="689995" y="631791"/>
            <a:ext cx="609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 5. “Donde cabe uno caben todos”</a:t>
            </a:r>
            <a:r>
              <a:rPr lang="es-CO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    (Oportunidad Comercial)</a:t>
            </a:r>
            <a:endParaRPr lang="es-CO" sz="16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A7EA467-FD3E-BD54-9107-D59C1546C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19C1B9D-21A6-BF3B-9588-49A38869AA0F}"/>
              </a:ext>
            </a:extLst>
          </p:cNvPr>
          <p:cNvSpPr txBox="1"/>
          <p:nvPr/>
        </p:nvSpPr>
        <p:spPr>
          <a:xfrm>
            <a:off x="921866" y="1427032"/>
            <a:ext cx="4471039" cy="539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1" i="0">
                <a:solidFill>
                  <a:srgbClr val="00B050"/>
                </a:solidFill>
                <a:latin typeface="Josefin Sans"/>
              </a:rPr>
              <a:t>Oportunidad Comercial y Tamaño de Mercado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Tendencia Global y Local: El sector EdTech en LATAM crece a un ritmo superior al 15% anual (CAGR) impulsado por IA y analítica educativa.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323232"/>
                </a:solidFill>
                <a:latin typeface="Josefin Sans"/>
              </a:rPr>
              <a:t>Dimensionamiento del Mercado: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5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TAM: +300 Instituciones de educación superior y técnica en Colombia (~$2.500 millones COP anuales).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5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SAM: 180 instituciones técnicas y tecnológicas del segmento intermedio privado.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SOM (Meta 5 años): 80 instituciones foco en Bogotá y Región Andina; proyección de 68 licencias anuales activas al Año 5 (37,7% de penetración del SAM).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Validación Primaria con Clientes: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Encuesta a 100 actores clave: 86% considera indispensable el simulador de entrevistas con IA y 78% de directivos pagaría por el sistema predictivo de alertas.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1 minuto)</a:t>
            </a:r>
          </a:p>
        </p:txBody>
      </p:sp>
      <p:pic>
        <p:nvPicPr>
          <p:cNvPr id="8" name="Picture 2" descr="Persona Dando Fruta A Otra">
            <a:extLst>
              <a:ext uri="{FF2B5EF4-FFF2-40B4-BE49-F238E27FC236}">
                <a16:creationId xmlns:a16="http://schemas.microsoft.com/office/drawing/2014/main" id="{907D6B82-0F08-2B2D-5BF2-C12970DDB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123" y="1972317"/>
            <a:ext cx="4078619" cy="271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06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4641AF0-36B3-9F14-F4C9-6CCAA7079E3E}"/>
              </a:ext>
            </a:extLst>
          </p:cNvPr>
          <p:cNvSpPr txBox="1"/>
          <p:nvPr/>
        </p:nvSpPr>
        <p:spPr>
          <a:xfrm>
            <a:off x="1050721" y="450011"/>
            <a:ext cx="60946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  <a:latin typeface="Josefin Sans" panose="00000500000000000000" pitchFamily="2" charset="0"/>
              </a:rPr>
              <a:t> 6. “En qué vamos”</a:t>
            </a:r>
          </a:p>
          <a:p>
            <a:r>
              <a:rPr lang="es-ES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(Hitos importantes del proyecto)</a:t>
            </a:r>
            <a:endParaRPr lang="es-CO" sz="18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B15E8F-FB46-F612-14ED-26A4F6A040E2}"/>
              </a:ext>
            </a:extLst>
          </p:cNvPr>
          <p:cNvSpPr txBox="1"/>
          <p:nvPr/>
        </p:nvSpPr>
        <p:spPr>
          <a:xfrm>
            <a:off x="908108" y="1549213"/>
            <a:ext cx="6094602" cy="4048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1" i="0">
                <a:solidFill>
                  <a:srgbClr val="00B050"/>
                </a:solidFill>
                <a:latin typeface="Josefin Sans"/>
              </a:rPr>
              <a:t>Trayecto Recorrido e Hitos del Proyecto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5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1. Investigación y Validación: Estudio de mercado cuantitativo y cualitativo con 100 encuestas aplicadas a estudiantes y directivos.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5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2. Arquitectura y MVP Funcional: Desarrollo en stack moderno (Backend Django REST Framework, base relacional PostgreSQL/Supabase y Frontend en React).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5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3. Algoritmos de IA Calibrados: Modelo de Machine Learning (Random Forest) para scoring de riesgo y módulo NLP para simulación de entrevistas.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5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4. Viabilidad Legal y Financiera: Estructuración como S.A.S. (CIIU 6201/6202), plan de inversión ($47.3M) y modelo financiero auditado a 5 años.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323232"/>
                </a:solidFill>
                <a:latin typeface="Josefin Sans"/>
              </a:rPr>
              <a:t>Estado Actual: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250" b="0" i="0">
                <a:solidFill>
                  <a:srgbClr val="323232"/>
                </a:solidFill>
                <a:latin typeface="Josefin Sans"/>
              </a:rPr>
              <a:t>• Prototipo completamente funcional, listo para fase de despliegue piloto en instituciones co-formadoras aliadas.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2 minutos)</a:t>
            </a:r>
          </a:p>
        </p:txBody>
      </p:sp>
      <p:pic>
        <p:nvPicPr>
          <p:cNvPr id="8" name="Picture 2" descr="Persona Vestida Con Zapatos De Cuero Negro">
            <a:extLst>
              <a:ext uri="{FF2B5EF4-FFF2-40B4-BE49-F238E27FC236}">
                <a16:creationId xmlns:a16="http://schemas.microsoft.com/office/drawing/2014/main" id="{54EBE1C9-211F-57C6-12C8-67E4BF05C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922789"/>
            <a:ext cx="3429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CAFAD02-EB5C-ADCA-CEB1-0C8494E3F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82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3CD14D6-4DD1-58BF-3ED7-0C5FF7224E11}"/>
              </a:ext>
            </a:extLst>
          </p:cNvPr>
          <p:cNvSpPr txBox="1"/>
          <p:nvPr/>
        </p:nvSpPr>
        <p:spPr>
          <a:xfrm>
            <a:off x="1361114" y="724070"/>
            <a:ext cx="609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7.”Los de al lado” </a:t>
            </a:r>
          </a:p>
          <a:p>
            <a:r>
              <a:rPr lang="es-CO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(</a:t>
            </a:r>
            <a:r>
              <a:rPr lang="es-ES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Competencia)</a:t>
            </a:r>
            <a:endParaRPr lang="es-CO" sz="16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B957C2-EFB5-82CD-42E4-4FBA9128CAAF}"/>
              </a:ext>
            </a:extLst>
          </p:cNvPr>
          <p:cNvSpPr txBox="1"/>
          <p:nvPr/>
        </p:nvSpPr>
        <p:spPr>
          <a:xfrm>
            <a:off x="1067856" y="1242501"/>
            <a:ext cx="4262312" cy="5023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1" i="0">
                <a:solidFill>
                  <a:srgbClr val="00B050"/>
                </a:solidFill>
                <a:latin typeface="Josefin Sans"/>
              </a:rPr>
              <a:t>Análisis de la Competencia y Diferenciación</a:t>
            </a:r>
            <a:endParaRPr lang="es-ES" sz="1800" b="1" i="1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LMS Tradicionales (Moodle, Q10, Canvas): Fuertes en gestión de notas y contenidos; sin embargo, no poseen módulos predictivos ni preparación de empleabilidad.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Simuladores Extranjeros (InterviewWarmup, Coursera): Enfoque en inglés, para mercado corporativo internacional y precios elevados en dólares (+$5,000 USD).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Consultorías Tradicionales de Bienestar: Procesos manuales, reactivos y de muy alto costo operativo para las instituciones.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323232"/>
                </a:solidFill>
                <a:latin typeface="Josefin Sans"/>
              </a:rPr>
              <a:t>Ventajas Competitivas de TalentLab: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5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1. Integralidad 3 en 1: Predicción de deserción + Simulador con IA + Red de Mentorías en una sola plataforma.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5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2. Accesibilidad de Precios en COP: Licenciamiento SaaS desde $4.500.000 COP anuales.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3. Algoritmos Contextualizados: Adaptados a la realidad socioeconómica colombiana.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1 minuto)</a:t>
            </a:r>
          </a:p>
        </p:txBody>
      </p:sp>
      <p:pic>
        <p:nvPicPr>
          <p:cNvPr id="7" name="Picture 2" descr="Atletas Corriendo En Pista Y Campo óvalo En Fotografía En Escala De Grises">
            <a:extLst>
              <a:ext uri="{FF2B5EF4-FFF2-40B4-BE49-F238E27FC236}">
                <a16:creationId xmlns:a16="http://schemas.microsoft.com/office/drawing/2014/main" id="{7F93732E-8DD9-45DF-1311-980FE04AE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30863"/>
            <a:ext cx="4262312" cy="284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ECCF759-A2DE-1234-7DB2-50AA36FE8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010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044E463-F927-1DBB-1BAE-349FDD127C56}"/>
              </a:ext>
            </a:extLst>
          </p:cNvPr>
          <p:cNvSpPr txBox="1"/>
          <p:nvPr/>
        </p:nvSpPr>
        <p:spPr>
          <a:xfrm>
            <a:off x="1017165" y="877849"/>
            <a:ext cx="60946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  <a:latin typeface="Josefin Sans" panose="00000500000000000000" pitchFamily="2" charset="0"/>
              </a:rPr>
              <a:t> 8. ¿ Y cómo nos conectamos?</a:t>
            </a:r>
          </a:p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(</a:t>
            </a:r>
            <a:r>
              <a:rPr lang="es-ES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Enfoque y estrategia de mercado)</a:t>
            </a:r>
            <a:endParaRPr lang="es-CO" sz="18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6DFBB9-C332-5BE1-CB61-B5980EC414FB}"/>
              </a:ext>
            </a:extLst>
          </p:cNvPr>
          <p:cNvSpPr txBox="1"/>
          <p:nvPr/>
        </p:nvSpPr>
        <p:spPr>
          <a:xfrm>
            <a:off x="950053" y="1794418"/>
            <a:ext cx="6094602" cy="3843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1" i="0">
                <a:solidFill>
                  <a:srgbClr val="00B050"/>
                </a:solidFill>
                <a:latin typeface="Josefin Sans"/>
              </a:rPr>
              <a:t>Estrategia de Mercado y Canales de Venta B2B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5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Venta Directa Consultiva B2B (Canal Principal - 70% de ventas): Demostraciones ejecutivas en vivo del MVP con Directores de Bienestar Institucional y Rectores, sustentando el Retorno de Inversión (ROI) por retención.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5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Inbound Marketing y Autoridad Digital (15% de ventas): Creación y difusión de Whitepapers técnicos, webinars e informes de deserción estudiantil para posicionar a TalentLab como referente EdTech.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5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Eventos y Alianzas Sectoriales (15% de ventas): Participación activa en foros de innovación de la Red de IES, ACIET, ASCUN y ruedas de negocio de la industria de software.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60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Canal Social Freemium: Versión gratuita limitada para instituciones públicas vulnerables, impulsando la tracción de marca, impacto social y validación a gran escala.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1 minuto)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500F824-61B4-21CA-033B-E066BA4D0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Persona Sosteniendo Iphone Mostrando Carpeta De Redes Sociales">
            <a:extLst>
              <a:ext uri="{FF2B5EF4-FFF2-40B4-BE49-F238E27FC236}">
                <a16:creationId xmlns:a16="http://schemas.microsoft.com/office/drawing/2014/main" id="{FE2F0B91-283D-E0AA-0974-A33231C47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810" y="2061863"/>
            <a:ext cx="4358165" cy="290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535A422-3790-4998-391A-6B2AF873009E}"/>
              </a:ext>
            </a:extLst>
          </p:cNvPr>
          <p:cNvSpPr txBox="1"/>
          <p:nvPr/>
        </p:nvSpPr>
        <p:spPr>
          <a:xfrm>
            <a:off x="1109444" y="816348"/>
            <a:ext cx="609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 9. “Las cuentas claras, el chocolate espeso”</a:t>
            </a:r>
          </a:p>
          <a:p>
            <a:r>
              <a:rPr lang="es-CO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(</a:t>
            </a:r>
            <a:r>
              <a:rPr lang="es-ES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Finanzas)</a:t>
            </a:r>
            <a:endParaRPr lang="es-CO" sz="16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5ABFF6F-0169-AEC5-E6ED-B7C33EEDF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A3F4DB9-7D60-9ABC-1299-A85413CA55EB}"/>
              </a:ext>
            </a:extLst>
          </p:cNvPr>
          <p:cNvSpPr txBox="1"/>
          <p:nvPr/>
        </p:nvSpPr>
        <p:spPr>
          <a:xfrm>
            <a:off x="1005840" y="1759828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1" i="0">
                <a:solidFill>
                  <a:srgbClr val="00B050"/>
                </a:solidFill>
                <a:latin typeface="Josefin Sans"/>
              </a:rPr>
              <a:t>Estructura Financiera y Viabilidad del Proyecto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5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• Inversión Total Requerida: $47.344.222 COP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323232"/>
                </a:solidFill>
                <a:latin typeface="Josefin Sans"/>
              </a:rPr>
              <a:t>   - Crédito Bancario Comercial: $40.644.222 COP (85,85% a 14% E.A., 5 años de plazo; amortización $8.12M anual). (Fondo Emprender como opción alternativa).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150" b="0" i="0">
                <a:solidFill>
                  <a:srgbClr val="323232"/>
                </a:solidFill>
                <a:latin typeface="Josefin Sans"/>
              </a:rPr>
              <a:t>   - Aporte Propio del Emprendedor: $6.700.000 COP (14,15%).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50"/>
              </a:spcAft>
            </a:pPr>
            <a:r>
              <a:rPr sz="1150" b="0" i="0">
                <a:solidFill>
                  <a:srgbClr val="323232"/>
                </a:solidFill>
                <a:latin typeface="Josefin Sans"/>
              </a:rPr>
              <a:t>• Destino de los Recursos: Dotación de cómputo ($9.85M), Muebles de oficina ($4.5M), Gastos legales/SIC ($2.8M) y Capital de Trabajo Operativo ($30.19M).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5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Proyección de Ventas y Crecimiento (5 Años):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50"/>
              </a:spcAft>
            </a:pPr>
            <a:r>
              <a:rPr sz="1200" b="0" i="0">
                <a:solidFill>
                  <a:srgbClr val="323232"/>
                </a:solidFill>
                <a:latin typeface="Josefin Sans"/>
              </a:rPr>
              <a:t>• Año 1: 12 licencias ($54.0M) | Año 3: 38 licencias ($189.7M) | Año 5: 68 licencias ($358.3M).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5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Indicadores de Evaluación Financiera (TIO 15%):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00B050"/>
                </a:solidFill>
                <a:latin typeface="Josefin Sans"/>
              </a:rPr>
              <a:t>• VPN: +$125.340.830 COP | TIR: 62,88% | PRI: 2,4 años (Mes 29) | Relación B/C: 1,30.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0" i="0">
                <a:solidFill>
                  <a:srgbClr val="323232"/>
                </a:solidFill>
                <a:latin typeface="Josefin Sans"/>
              </a:rPr>
              <a:t>• Margen Bruto: 93,07% | Punto de Equilibrio: 32,2 licencias Plan Lean ($144,9M COP).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2 minutos)</a:t>
            </a:r>
          </a:p>
        </p:txBody>
      </p:sp>
      <p:pic>
        <p:nvPicPr>
          <p:cNvPr id="9" name="Picture 2" descr="Dinero, Moneda, Inversión, Negocio, Las Finanzas, Banco">
            <a:extLst>
              <a:ext uri="{FF2B5EF4-FFF2-40B4-BE49-F238E27FC236}">
                <a16:creationId xmlns:a16="http://schemas.microsoft.com/office/drawing/2014/main" id="{6466F96B-EEE3-2CE5-46B0-CBB1E7C46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046" y="1911441"/>
            <a:ext cx="4104997" cy="30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72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92F4BAA-5E42-6AEC-7366-EFA03DC64AA9}"/>
              </a:ext>
            </a:extLst>
          </p:cNvPr>
          <p:cNvSpPr txBox="1"/>
          <p:nvPr/>
        </p:nvSpPr>
        <p:spPr>
          <a:xfrm>
            <a:off x="1059110" y="749237"/>
            <a:ext cx="609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10. “Mis compañeros de aventura son…”</a:t>
            </a:r>
          </a:p>
          <a:p>
            <a:r>
              <a:rPr lang="es-ES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(Equipo del emprendimiento)</a:t>
            </a:r>
            <a:endParaRPr lang="es-CO" sz="16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391BEAF-24EF-5409-846A-0589747E5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Grupo De Personas Que Usan Computadoras Portátiles">
            <a:extLst>
              <a:ext uri="{FF2B5EF4-FFF2-40B4-BE49-F238E27FC236}">
                <a16:creationId xmlns:a16="http://schemas.microsoft.com/office/drawing/2014/main" id="{26E0A6AC-1555-017A-BF79-F156AF33C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712" y="1243151"/>
            <a:ext cx="4170717" cy="3926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90BA074-C5E7-ACB1-247E-5A4998860430}"/>
              </a:ext>
            </a:extLst>
          </p:cNvPr>
          <p:cNvSpPr txBox="1"/>
          <p:nvPr/>
        </p:nvSpPr>
        <p:spPr>
          <a:xfrm>
            <a:off x="822960" y="1766934"/>
            <a:ext cx="6217920" cy="300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1" i="0">
                <a:solidFill>
                  <a:srgbClr val="00B050"/>
                </a:solidFill>
                <a:latin typeface="Josefin Sans"/>
              </a:rPr>
              <a:t>Equipo Emprendedor e Interdisciplinario</a:t>
            </a:r>
            <a:endParaRPr lang="es-ES" sz="2800" b="1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1. Diego Alfonso Tapia Salazar – Director General &amp; Líder de Desarrollo: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150" b="0" i="0">
                <a:solidFill>
                  <a:srgbClr val="323232"/>
                </a:solidFill>
                <a:latin typeface="Josefin Sans"/>
              </a:rPr>
              <a:t>   • Tecnólogo ADSO (SENA). Arquitectura de software, backend en Django REST, modelado de bases de datos relacionales y gestión integral del proyecto.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2. Área de Inteligencia Artificial &amp; Data Science: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150" b="0" i="0">
                <a:solidFill>
                  <a:srgbClr val="323232"/>
                </a:solidFill>
                <a:latin typeface="Josefin Sans"/>
              </a:rPr>
              <a:t>   • Diseño de pipelines de datos, entrenamiento del modelo de clasificación Random Forest y afinamiento de algoritmos NLP en español.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3. Área Comercial &amp; Éxito del Cliente (Customer Success):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150" b="0" i="0">
                <a:solidFill>
                  <a:srgbClr val="323232"/>
                </a:solidFill>
                <a:latin typeface="Josefin Sans"/>
              </a:rPr>
              <a:t>   • Relacionamiento estratégico con directivos de IES, demostraciones de producto, onboarding y fidelización institucional.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323232"/>
                </a:solidFill>
                <a:latin typeface="Josefin Sans"/>
              </a:rPr>
              <a:t>4. Respaldo Institucional y Metodológico: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0" i="0">
                <a:solidFill>
                  <a:srgbClr val="323232"/>
                </a:solidFill>
                <a:latin typeface="Josefin Sans"/>
              </a:rPr>
              <a:t>   • Asesoría técnica permanente del SENA (Centro de Diseño y Metrología) e instructores del programa ADSO.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1">
                <a:solidFill>
                  <a:srgbClr val="787878"/>
                </a:solidFill>
                <a:latin typeface="Josefin Sans"/>
              </a:rPr>
              <a:t>(Tiempo sugerido: 1 minuto 30 segundos)</a:t>
            </a:r>
          </a:p>
        </p:txBody>
      </p:sp>
    </p:spTree>
    <p:extLst>
      <p:ext uri="{BB962C8B-B14F-4D97-AF65-F5344CB8AC3E}">
        <p14:creationId xmlns:p14="http://schemas.microsoft.com/office/powerpoint/2010/main" val="381532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losingBox"/>
          <p:cNvSpPr txBox="1"/>
          <p:nvPr/>
        </p:nvSpPr>
        <p:spPr>
          <a:xfrm>
            <a:off x="2286000" y="2011680"/>
            <a:ext cx="7589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B050"/>
                </a:solidFill>
                <a:latin typeface="Josefin Sans"/>
              </a:rPr>
              <a:t>TALENTLAB S.A.S.</a:t>
            </a:r>
          </a:p>
          <a:p>
            <a:pPr algn="ctr">
              <a:spcBef>
                <a:spcPts val="600"/>
              </a:spcBef>
            </a:pPr>
            <a:r>
              <a:rPr sz="1600" i="1">
                <a:solidFill>
                  <a:srgbClr val="323232"/>
                </a:solidFill>
                <a:latin typeface="Josefin Sans"/>
              </a:rPr>
              <a:t>"Detecta a tiempo. Prepara con IA. Conecta hacia el futuro laboral."</a:t>
            </a:r>
          </a:p>
          <a:p>
            <a:pPr algn="ctr">
              <a:spcBef>
                <a:spcPts val="1400"/>
              </a:spcBef>
            </a:pPr>
            <a:r>
              <a:rPr sz="2200" b="1">
                <a:solidFill>
                  <a:srgbClr val="00B050"/>
                </a:solidFill>
                <a:latin typeface="Josefin Sans"/>
              </a:rPr>
              <a:t>¡Muchas Gracias por su Atención!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323232"/>
                </a:solidFill>
                <a:latin typeface="Josefin Sans"/>
              </a:rPr>
              <a:t>Espacio para Preguntas y Retroalimentación del Jurado Evaluador
Diego Alfonso Tapia Salazar | Tecnólogo ADSO Ficha 2996897 | SENA</a:t>
            </a:r>
          </a:p>
        </p:txBody>
      </p:sp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_ip_UnifiedCompliancePolicyProperties xmlns="http://schemas.microsoft.com/sharepoint/v3" xsi:nil="true"/>
    <FechayHora xmlns="edbb1c21-1b45-407e-8894-c9773253499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3" ma:contentTypeDescription="Crear nuevo documento." ma:contentTypeScope="" ma:versionID="7588953d79b37feb9934caf9b24b5887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e8a576e1ff98af8803e81906898dd43d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793A44-C896-41D7-AA95-258C41799B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07C22C-0ADE-4E74-9F22-92A5F804D7D0}">
  <ds:schemaRefs>
    <ds:schemaRef ds:uri="http://schemas.microsoft.com/sharepoint/v3"/>
    <ds:schemaRef ds:uri="http://schemas.microsoft.com/office/2006/metadata/properties"/>
    <ds:schemaRef ds:uri="edbb1c21-1b45-407e-8894-c97732534993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41dd0a9e-964d-48c8-9389-7445c2a187f7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7083A07-3D98-4AA4-8E51-420644468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dbb1c21-1b45-407e-8894-c97732534993"/>
    <ds:schemaRef ds:uri="41dd0a9e-964d-48c8-9389-7445c2a187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825</Words>
  <Application>Microsoft Office PowerPoint</Application>
  <PresentationFormat>Panorámica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Josefin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AULA231</dc:creator>
  <cp:lastModifiedBy>John Fernando Méndez Medina</cp:lastModifiedBy>
  <cp:revision>8</cp:revision>
  <dcterms:created xsi:type="dcterms:W3CDTF">2023-03-21T18:45:23Z</dcterms:created>
  <dcterms:modified xsi:type="dcterms:W3CDTF">2026-02-25T02:40:21Z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SetDate">
    <vt:lpwstr>2023-06-23T14:20:41Z</vt:lpwstr>
  </property>
  <property fmtid="{D5CDD505-2E9C-101B-9397-08002B2CF9AE}" pid="4" name="MSIP_Label_1299739c-ad3d-4908-806e-4d91151a6e13_Method">
    <vt:lpwstr>Standard</vt:lpwstr>
  </property>
  <property fmtid="{D5CDD505-2E9C-101B-9397-08002B2CF9AE}" pid="5" name="MSIP_Label_1299739c-ad3d-4908-806e-4d91151a6e13_Name">
    <vt:lpwstr>All Employees (Unrestricted)</vt:lpwstr>
  </property>
  <property fmtid="{D5CDD505-2E9C-101B-9397-08002B2CF9AE}" pid="6" name="MSIP_Label_1299739c-ad3d-4908-806e-4d91151a6e13_SiteId">
    <vt:lpwstr>cbc2c381-2f2e-4d93-91d1-506c9316ace7</vt:lpwstr>
  </property>
  <property fmtid="{D5CDD505-2E9C-101B-9397-08002B2CF9AE}" pid="7" name="MSIP_Label_1299739c-ad3d-4908-806e-4d91151a6e13_ActionId">
    <vt:lpwstr>2fcef71c-15bc-4f65-919b-d7b503a25333</vt:lpwstr>
  </property>
  <property fmtid="{D5CDD505-2E9C-101B-9397-08002B2CF9AE}" pid="8" name="MSIP_Label_1299739c-ad3d-4908-806e-4d91151a6e13_ContentBits">
    <vt:lpwstr>0</vt:lpwstr>
  </property>
  <property fmtid="{D5CDD505-2E9C-101B-9397-08002B2CF9AE}" pid="9" name="ContentTypeId">
    <vt:lpwstr>0x01010080239B14884FBB46AB47CE62E6B5D997</vt:lpwstr>
  </property>
  <property fmtid="{D5CDD505-2E9C-101B-9397-08002B2CF9AE}" pid="10" name="MediaServiceImageTags">
    <vt:lpwstr/>
  </property>
</Properties>
</file>